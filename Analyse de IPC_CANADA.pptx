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6"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2" r:id="rId17"/>
    <p:sldId id="273" r:id="rId18"/>
    <p:sldId id="271"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4" d="100"/>
          <a:sy n="84" d="100"/>
        </p:scale>
        <p:origin x="65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CA"/>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CA"/>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CA"/>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CA"/>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CA"/>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CA"/>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CA"/>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CA"/>
            </a:p>
          </p:txBody>
        </p:sp>
      </p:grpSp>
      <p:sp>
        <p:nvSpPr>
          <p:cNvPr id="2" name="Title 1"/>
          <p:cNvSpPr>
            <a:spLocks noGrp="1"/>
          </p:cNvSpPr>
          <p:nvPr>
            <p:ph type="ctrTitle"/>
          </p:nvPr>
        </p:nvSpPr>
        <p:spPr>
          <a:xfrm>
            <a:off x="1507067" y="2404534"/>
            <a:ext cx="7766936" cy="1646302"/>
          </a:xfrm>
        </p:spPr>
        <p:txBody>
          <a:bodyPr anchor="b">
            <a:noAutofit/>
          </a:bodyPr>
          <a:lstStyle>
            <a:lvl1pPr algn="just">
              <a:defRPr sz="3600" b="1">
                <a:solidFill>
                  <a:schemeClr val="accent1"/>
                </a:solidFill>
                <a:latin typeface="Calibri" panose="020F0502020204030204" pitchFamily="34" charset="0"/>
                <a:ea typeface="Calibri" panose="020F0502020204030204" pitchFamily="34" charset="0"/>
                <a:cs typeface="Calibri" panose="020F0502020204030204" pitchFamily="34" charset="0"/>
              </a:defRPr>
            </a:lvl1pPr>
          </a:lstStyle>
          <a:p>
            <a:r>
              <a:rPr lang="fr-FR" dirty="0"/>
              <a:t>Modifiez le style du titre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just">
              <a:buNone/>
              <a:defRPr>
                <a:solidFill>
                  <a:schemeClr val="tx1">
                    <a:lumMod val="50000"/>
                    <a:lumOff val="50000"/>
                  </a:schemeClr>
                </a:solidFill>
                <a:latin typeface="Calibri" panose="020F0502020204030204" pitchFamily="34" charset="0"/>
                <a:ea typeface="Calibri" panose="020F0502020204030204" pitchFamily="34" charset="0"/>
                <a:cs typeface="Calibri" panose="020F050202020403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dirty="0"/>
              <a:t>Modifiez le style des sous-titres du masque</a:t>
            </a:r>
            <a:endParaRPr lang="en-US" dirty="0"/>
          </a:p>
        </p:txBody>
      </p:sp>
    </p:spTree>
    <p:extLst>
      <p:ext uri="{BB962C8B-B14F-4D97-AF65-F5344CB8AC3E}">
        <p14:creationId xmlns:p14="http://schemas.microsoft.com/office/powerpoint/2010/main" val="1995482722"/>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F8F10292-D201-4477-ABB1-072C6C10F914}" type="datetimeFigureOut">
              <a:rPr lang="fr-CA" smtClean="0"/>
              <a:t>2026-03-24</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6EC726F2-F655-4AA0-AF02-B95DEBB4C32A}" type="slidenum">
              <a:rPr lang="fr-CA" smtClean="0"/>
              <a:t>‹N°›</a:t>
            </a:fld>
            <a:endParaRPr lang="fr-CA"/>
          </a:p>
        </p:txBody>
      </p:sp>
    </p:spTree>
    <p:extLst>
      <p:ext uri="{BB962C8B-B14F-4D97-AF65-F5344CB8AC3E}">
        <p14:creationId xmlns:p14="http://schemas.microsoft.com/office/powerpoint/2010/main" val="603394172"/>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fr-FR"/>
              <a:t>Modifiez le style du titre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F8F10292-D201-4477-ABB1-072C6C10F914}" type="datetimeFigureOut">
              <a:rPr lang="fr-CA" smtClean="0"/>
              <a:t>2026-03-24</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6EC726F2-F655-4AA0-AF02-B95DEBB4C32A}" type="slidenum">
              <a:rPr lang="fr-CA" smtClean="0"/>
              <a:t>‹N°›</a:t>
            </a:fld>
            <a:endParaRPr lang="fr-CA"/>
          </a:p>
        </p:txBody>
      </p:sp>
    </p:spTree>
    <p:extLst>
      <p:ext uri="{BB962C8B-B14F-4D97-AF65-F5344CB8AC3E}">
        <p14:creationId xmlns:p14="http://schemas.microsoft.com/office/powerpoint/2010/main" val="260281595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F8F10292-D201-4477-ABB1-072C6C10F914}" type="datetimeFigureOut">
              <a:rPr lang="fr-CA" smtClean="0"/>
              <a:t>2026-03-24</a:t>
            </a:fld>
            <a:endParaRPr lang="fr-CA"/>
          </a:p>
        </p:txBody>
      </p:sp>
      <p:sp>
        <p:nvSpPr>
          <p:cNvPr id="6" name="Footer Placeholder 5"/>
          <p:cNvSpPr>
            <a:spLocks noGrp="1"/>
          </p:cNvSpPr>
          <p:nvPr>
            <p:ph type="ftr" sz="quarter" idx="11"/>
          </p:nvPr>
        </p:nvSpPr>
        <p:spPr/>
        <p:txBody>
          <a:bodyPr/>
          <a:lstStyle/>
          <a:p>
            <a:endParaRPr lang="fr-CA"/>
          </a:p>
        </p:txBody>
      </p:sp>
      <p:sp>
        <p:nvSpPr>
          <p:cNvPr id="7" name="Slide Number Placeholder 6"/>
          <p:cNvSpPr>
            <a:spLocks noGrp="1"/>
          </p:cNvSpPr>
          <p:nvPr>
            <p:ph type="sldNum" sz="quarter" idx="12"/>
          </p:nvPr>
        </p:nvSpPr>
        <p:spPr/>
        <p:txBody>
          <a:bodyPr/>
          <a:lstStyle/>
          <a:p>
            <a:fld id="{6EC726F2-F655-4AA0-AF02-B95DEBB4C32A}" type="slidenum">
              <a:rPr lang="fr-CA" smtClean="0"/>
              <a:t>‹N°›</a:t>
            </a:fld>
            <a:endParaRPr lang="fr-CA"/>
          </a:p>
        </p:txBody>
      </p:sp>
    </p:spTree>
    <p:extLst>
      <p:ext uri="{BB962C8B-B14F-4D97-AF65-F5344CB8AC3E}">
        <p14:creationId xmlns:p14="http://schemas.microsoft.com/office/powerpoint/2010/main" val="402681238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a:t>Modifiez le style du titre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F8F10292-D201-4477-ABB1-072C6C10F914}" type="datetimeFigureOut">
              <a:rPr lang="fr-CA" smtClean="0"/>
              <a:t>2026-03-24</a:t>
            </a:fld>
            <a:endParaRPr lang="fr-CA"/>
          </a:p>
        </p:txBody>
      </p:sp>
      <p:sp>
        <p:nvSpPr>
          <p:cNvPr id="8" name="Footer Placeholder 7"/>
          <p:cNvSpPr>
            <a:spLocks noGrp="1"/>
          </p:cNvSpPr>
          <p:nvPr>
            <p:ph type="ftr" sz="quarter" idx="11"/>
          </p:nvPr>
        </p:nvSpPr>
        <p:spPr/>
        <p:txBody>
          <a:bodyPr/>
          <a:lstStyle/>
          <a:p>
            <a:endParaRPr lang="fr-CA"/>
          </a:p>
        </p:txBody>
      </p:sp>
      <p:sp>
        <p:nvSpPr>
          <p:cNvPr id="9" name="Slide Number Placeholder 8"/>
          <p:cNvSpPr>
            <a:spLocks noGrp="1"/>
          </p:cNvSpPr>
          <p:nvPr>
            <p:ph type="sldNum" sz="quarter" idx="12"/>
          </p:nvPr>
        </p:nvSpPr>
        <p:spPr/>
        <p:txBody>
          <a:bodyPr/>
          <a:lstStyle/>
          <a:p>
            <a:fld id="{6EC726F2-F655-4AA0-AF02-B95DEBB4C32A}" type="slidenum">
              <a:rPr lang="fr-CA" smtClean="0"/>
              <a:t>‹N°›</a:t>
            </a:fld>
            <a:endParaRPr lang="fr-CA"/>
          </a:p>
        </p:txBody>
      </p:sp>
    </p:spTree>
    <p:extLst>
      <p:ext uri="{BB962C8B-B14F-4D97-AF65-F5344CB8AC3E}">
        <p14:creationId xmlns:p14="http://schemas.microsoft.com/office/powerpoint/2010/main" val="3113097755"/>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F8F10292-D201-4477-ABB1-072C6C10F914}" type="datetimeFigureOut">
              <a:rPr lang="fr-CA" smtClean="0"/>
              <a:t>2026-03-24</a:t>
            </a:fld>
            <a:endParaRPr lang="fr-CA"/>
          </a:p>
        </p:txBody>
      </p:sp>
      <p:sp>
        <p:nvSpPr>
          <p:cNvPr id="4" name="Footer Placeholder 3"/>
          <p:cNvSpPr>
            <a:spLocks noGrp="1"/>
          </p:cNvSpPr>
          <p:nvPr>
            <p:ph type="ftr" sz="quarter" idx="11"/>
          </p:nvPr>
        </p:nvSpPr>
        <p:spPr/>
        <p:txBody>
          <a:bodyPr/>
          <a:lstStyle/>
          <a:p>
            <a:endParaRPr lang="fr-CA"/>
          </a:p>
        </p:txBody>
      </p:sp>
      <p:sp>
        <p:nvSpPr>
          <p:cNvPr id="5" name="Slide Number Placeholder 4"/>
          <p:cNvSpPr>
            <a:spLocks noGrp="1"/>
          </p:cNvSpPr>
          <p:nvPr>
            <p:ph type="sldNum" sz="quarter" idx="12"/>
          </p:nvPr>
        </p:nvSpPr>
        <p:spPr/>
        <p:txBody>
          <a:bodyPr/>
          <a:lstStyle/>
          <a:p>
            <a:fld id="{6EC726F2-F655-4AA0-AF02-B95DEBB4C32A}" type="slidenum">
              <a:rPr lang="fr-CA" smtClean="0"/>
              <a:t>‹N°›</a:t>
            </a:fld>
            <a:endParaRPr lang="fr-CA"/>
          </a:p>
        </p:txBody>
      </p:sp>
    </p:spTree>
    <p:extLst>
      <p:ext uri="{BB962C8B-B14F-4D97-AF65-F5344CB8AC3E}">
        <p14:creationId xmlns:p14="http://schemas.microsoft.com/office/powerpoint/2010/main" val="934511562"/>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8F10292-D201-4477-ABB1-072C6C10F914}" type="datetimeFigureOut">
              <a:rPr lang="fr-CA" smtClean="0"/>
              <a:t>2026-03-24</a:t>
            </a:fld>
            <a:endParaRPr lang="fr-CA"/>
          </a:p>
        </p:txBody>
      </p:sp>
      <p:sp>
        <p:nvSpPr>
          <p:cNvPr id="3" name="Footer Placeholder 2"/>
          <p:cNvSpPr>
            <a:spLocks noGrp="1"/>
          </p:cNvSpPr>
          <p:nvPr>
            <p:ph type="ftr" sz="quarter" idx="11"/>
          </p:nvPr>
        </p:nvSpPr>
        <p:spPr/>
        <p:txBody>
          <a:bodyPr/>
          <a:lstStyle/>
          <a:p>
            <a:endParaRPr lang="fr-CA"/>
          </a:p>
        </p:txBody>
      </p:sp>
      <p:sp>
        <p:nvSpPr>
          <p:cNvPr id="4" name="Slide Number Placeholder 3"/>
          <p:cNvSpPr>
            <a:spLocks noGrp="1"/>
          </p:cNvSpPr>
          <p:nvPr>
            <p:ph type="sldNum" sz="quarter" idx="12"/>
          </p:nvPr>
        </p:nvSpPr>
        <p:spPr/>
        <p:txBody>
          <a:bodyPr/>
          <a:lstStyle/>
          <a:p>
            <a:fld id="{6EC726F2-F655-4AA0-AF02-B95DEBB4C32A}" type="slidenum">
              <a:rPr lang="fr-CA" smtClean="0"/>
              <a:t>‹N°›</a:t>
            </a:fld>
            <a:endParaRPr lang="fr-CA"/>
          </a:p>
        </p:txBody>
      </p:sp>
    </p:spTree>
    <p:extLst>
      <p:ext uri="{BB962C8B-B14F-4D97-AF65-F5344CB8AC3E}">
        <p14:creationId xmlns:p14="http://schemas.microsoft.com/office/powerpoint/2010/main" val="381578748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fr-FR"/>
              <a:t>Modifiez le style du titre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F8F10292-D201-4477-ABB1-072C6C10F914}" type="datetimeFigureOut">
              <a:rPr lang="fr-CA" smtClean="0"/>
              <a:t>2026-03-24</a:t>
            </a:fld>
            <a:endParaRPr lang="fr-CA"/>
          </a:p>
        </p:txBody>
      </p:sp>
      <p:sp>
        <p:nvSpPr>
          <p:cNvPr id="6" name="Footer Placeholder 5"/>
          <p:cNvSpPr>
            <a:spLocks noGrp="1"/>
          </p:cNvSpPr>
          <p:nvPr>
            <p:ph type="ftr" sz="quarter" idx="11"/>
          </p:nvPr>
        </p:nvSpPr>
        <p:spPr/>
        <p:txBody>
          <a:bodyPr/>
          <a:lstStyle/>
          <a:p>
            <a:endParaRPr lang="fr-CA"/>
          </a:p>
        </p:txBody>
      </p:sp>
      <p:sp>
        <p:nvSpPr>
          <p:cNvPr id="7" name="Slide Number Placeholder 6"/>
          <p:cNvSpPr>
            <a:spLocks noGrp="1"/>
          </p:cNvSpPr>
          <p:nvPr>
            <p:ph type="sldNum" sz="quarter" idx="12"/>
          </p:nvPr>
        </p:nvSpPr>
        <p:spPr/>
        <p:txBody>
          <a:bodyPr/>
          <a:lstStyle/>
          <a:p>
            <a:fld id="{6EC726F2-F655-4AA0-AF02-B95DEBB4C32A}" type="slidenum">
              <a:rPr lang="fr-CA" smtClean="0"/>
              <a:t>‹N°›</a:t>
            </a:fld>
            <a:endParaRPr lang="fr-CA"/>
          </a:p>
        </p:txBody>
      </p:sp>
    </p:spTree>
    <p:extLst>
      <p:ext uri="{BB962C8B-B14F-4D97-AF65-F5344CB8AC3E}">
        <p14:creationId xmlns:p14="http://schemas.microsoft.com/office/powerpoint/2010/main" val="309943253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fr-FR"/>
              <a:t>Modifiez le style du titre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F8F10292-D201-4477-ABB1-072C6C10F914}" type="datetimeFigureOut">
              <a:rPr lang="fr-CA" smtClean="0"/>
              <a:t>2026-03-24</a:t>
            </a:fld>
            <a:endParaRPr lang="fr-CA"/>
          </a:p>
        </p:txBody>
      </p:sp>
      <p:sp>
        <p:nvSpPr>
          <p:cNvPr id="6" name="Footer Placeholder 5"/>
          <p:cNvSpPr>
            <a:spLocks noGrp="1"/>
          </p:cNvSpPr>
          <p:nvPr>
            <p:ph type="ftr" sz="quarter" idx="11"/>
          </p:nvPr>
        </p:nvSpPr>
        <p:spPr/>
        <p:txBody>
          <a:bodyPr/>
          <a:lstStyle/>
          <a:p>
            <a:endParaRPr lang="fr-CA"/>
          </a:p>
        </p:txBody>
      </p:sp>
      <p:sp>
        <p:nvSpPr>
          <p:cNvPr id="7" name="Slide Number Placeholder 6"/>
          <p:cNvSpPr>
            <a:spLocks noGrp="1"/>
          </p:cNvSpPr>
          <p:nvPr>
            <p:ph type="sldNum" sz="quarter" idx="12"/>
          </p:nvPr>
        </p:nvSpPr>
        <p:spPr/>
        <p:txBody>
          <a:bodyPr/>
          <a:lstStyle/>
          <a:p>
            <a:fld id="{6EC726F2-F655-4AA0-AF02-B95DEBB4C32A}" type="slidenum">
              <a:rPr lang="fr-CA" smtClean="0"/>
              <a:t>‹N°›</a:t>
            </a:fld>
            <a:endParaRPr lang="fr-CA"/>
          </a:p>
        </p:txBody>
      </p:sp>
    </p:spTree>
    <p:extLst>
      <p:ext uri="{BB962C8B-B14F-4D97-AF65-F5344CB8AC3E}">
        <p14:creationId xmlns:p14="http://schemas.microsoft.com/office/powerpoint/2010/main" val="99937129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fr-FR"/>
              <a:t>Modifiez le style du titre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F8F10292-D201-4477-ABB1-072C6C10F914}" type="datetimeFigureOut">
              <a:rPr lang="fr-CA" smtClean="0"/>
              <a:t>2026-03-24</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6EC726F2-F655-4AA0-AF02-B95DEBB4C32A}" type="slidenum">
              <a:rPr lang="fr-CA" smtClean="0"/>
              <a:t>‹N°›</a:t>
            </a:fld>
            <a:endParaRPr lang="fr-CA"/>
          </a:p>
        </p:txBody>
      </p:sp>
    </p:spTree>
    <p:extLst>
      <p:ext uri="{BB962C8B-B14F-4D97-AF65-F5344CB8AC3E}">
        <p14:creationId xmlns:p14="http://schemas.microsoft.com/office/powerpoint/2010/main" val="199962712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fr-FR"/>
              <a:t>Modifiez le style du titre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F8F10292-D201-4477-ABB1-072C6C10F914}" type="datetimeFigureOut">
              <a:rPr lang="fr-CA" smtClean="0"/>
              <a:t>2026-03-24</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6EC726F2-F655-4AA0-AF02-B95DEBB4C32A}" type="slidenum">
              <a:rPr lang="fr-CA" smtClean="0"/>
              <a:t>‹N°›</a:t>
            </a:fld>
            <a:endParaRPr lang="fr-CA"/>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72866453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fr-FR"/>
              <a:t>Modifiez le style du titre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F8F10292-D201-4477-ABB1-072C6C10F914}" type="datetimeFigureOut">
              <a:rPr lang="fr-CA" smtClean="0"/>
              <a:t>2026-03-24</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6EC726F2-F655-4AA0-AF02-B95DEBB4C32A}" type="slidenum">
              <a:rPr lang="fr-CA" smtClean="0"/>
              <a:t>‹N°›</a:t>
            </a:fld>
            <a:endParaRPr lang="fr-CA"/>
          </a:p>
        </p:txBody>
      </p:sp>
    </p:spTree>
    <p:extLst>
      <p:ext uri="{BB962C8B-B14F-4D97-AF65-F5344CB8AC3E}">
        <p14:creationId xmlns:p14="http://schemas.microsoft.com/office/powerpoint/2010/main" val="783693945"/>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cita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fr-FR"/>
              <a:t>Modifiez le style du titre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F8F10292-D201-4477-ABB1-072C6C10F914}" type="datetimeFigureOut">
              <a:rPr lang="fr-CA" smtClean="0"/>
              <a:t>2026-03-24</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6EC726F2-F655-4AA0-AF02-B95DEBB4C32A}" type="slidenum">
              <a:rPr lang="fr-CA" smtClean="0"/>
              <a:t>‹N°›</a:t>
            </a:fld>
            <a:endParaRPr lang="fr-CA"/>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59440389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rai ou faux">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fr-FR"/>
              <a:t>Modifiez le style du titre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F8F10292-D201-4477-ABB1-072C6C10F914}" type="datetimeFigureOut">
              <a:rPr lang="fr-CA" smtClean="0"/>
              <a:t>2026-03-24</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6EC726F2-F655-4AA0-AF02-B95DEBB4C32A}" type="slidenum">
              <a:rPr lang="fr-CA" smtClean="0"/>
              <a:t>‹N°›</a:t>
            </a:fld>
            <a:endParaRPr lang="fr-CA"/>
          </a:p>
        </p:txBody>
      </p:sp>
    </p:spTree>
    <p:extLst>
      <p:ext uri="{BB962C8B-B14F-4D97-AF65-F5344CB8AC3E}">
        <p14:creationId xmlns:p14="http://schemas.microsoft.com/office/powerpoint/2010/main" val="2862648965"/>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F8F10292-D201-4477-ABB1-072C6C10F914}" type="datetimeFigureOut">
              <a:rPr lang="fr-CA" smtClean="0"/>
              <a:t>2026-03-24</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6EC726F2-F655-4AA0-AF02-B95DEBB4C32A}" type="slidenum">
              <a:rPr lang="fr-CA" smtClean="0"/>
              <a:t>‹N°›</a:t>
            </a:fld>
            <a:endParaRPr lang="fr-CA"/>
          </a:p>
        </p:txBody>
      </p:sp>
    </p:spTree>
    <p:extLst>
      <p:ext uri="{BB962C8B-B14F-4D97-AF65-F5344CB8AC3E}">
        <p14:creationId xmlns:p14="http://schemas.microsoft.com/office/powerpoint/2010/main" val="355922782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fr-FR"/>
              <a:t>Modifiez le style du titre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F8F10292-D201-4477-ABB1-072C6C10F914}" type="datetimeFigureOut">
              <a:rPr lang="fr-CA" smtClean="0"/>
              <a:t>2026-03-24</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6EC726F2-F655-4AA0-AF02-B95DEBB4C32A}" type="slidenum">
              <a:rPr lang="fr-CA" smtClean="0"/>
              <a:t>‹N°›</a:t>
            </a:fld>
            <a:endParaRPr lang="fr-CA"/>
          </a:p>
        </p:txBody>
      </p:sp>
    </p:spTree>
    <p:extLst>
      <p:ext uri="{BB962C8B-B14F-4D97-AF65-F5344CB8AC3E}">
        <p14:creationId xmlns:p14="http://schemas.microsoft.com/office/powerpoint/2010/main" val="2759314451"/>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CA"/>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CA"/>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CA"/>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CA"/>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CA"/>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CA"/>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CA"/>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CA"/>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fr-FR" dirty="0"/>
              <a:t>Modifiez le style du titre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8F10292-D201-4477-ABB1-072C6C10F914}" type="datetimeFigureOut">
              <a:rPr lang="fr-CA" smtClean="0"/>
              <a:t>2026-03-24</a:t>
            </a:fld>
            <a:endParaRPr lang="fr-CA"/>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fr-CA"/>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6EC726F2-F655-4AA0-AF02-B95DEBB4C32A}" type="slidenum">
              <a:rPr lang="fr-CA" smtClean="0"/>
              <a:t>‹N°›</a:t>
            </a:fld>
            <a:endParaRPr lang="fr-CA"/>
          </a:p>
        </p:txBody>
      </p:sp>
    </p:spTree>
    <p:extLst>
      <p:ext uri="{BB962C8B-B14F-4D97-AF65-F5344CB8AC3E}">
        <p14:creationId xmlns:p14="http://schemas.microsoft.com/office/powerpoint/2010/main" val="417240199"/>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 id="2147483718" r:id="rId12"/>
    <p:sldLayoutId id="2147483719" r:id="rId13"/>
    <p:sldLayoutId id="2147483720" r:id="rId14"/>
    <p:sldLayoutId id="2147483721" r:id="rId15"/>
    <p:sldLayoutId id="2147483722" r:id="rId16"/>
  </p:sldLayoutIdLst>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F0DAD3E-926E-67A0-795B-B6170984152F}"/>
              </a:ext>
            </a:extLst>
          </p:cNvPr>
          <p:cNvSpPr>
            <a:spLocks noGrp="1"/>
          </p:cNvSpPr>
          <p:nvPr>
            <p:ph type="ctrTitle"/>
          </p:nvPr>
        </p:nvSpPr>
        <p:spPr>
          <a:xfrm>
            <a:off x="1507067" y="1038226"/>
            <a:ext cx="8313208" cy="2507786"/>
          </a:xfrm>
        </p:spPr>
        <p:txBody>
          <a:bodyPr>
            <a:noAutofit/>
          </a:bodyPr>
          <a:lstStyle/>
          <a:p>
            <a:pPr algn="ctr"/>
            <a:r>
              <a:rPr lang="fr-CA" sz="3600" b="1" dirty="0">
                <a:latin typeface="Calibri" panose="020F0502020204030204" pitchFamily="34" charset="0"/>
                <a:ea typeface="Calibri" panose="020F0502020204030204" pitchFamily="34" charset="0"/>
                <a:cs typeface="Calibri" panose="020F0502020204030204" pitchFamily="34" charset="0"/>
              </a:rPr>
              <a:t>Décomposition et analyse prédictive de l’IPC (Indice des Prix à la Consommation) au Canada : une étude des déterminants de l’inflation</a:t>
            </a:r>
          </a:p>
        </p:txBody>
      </p:sp>
      <p:sp>
        <p:nvSpPr>
          <p:cNvPr id="3" name="Sous-titre 2">
            <a:extLst>
              <a:ext uri="{FF2B5EF4-FFF2-40B4-BE49-F238E27FC236}">
                <a16:creationId xmlns:a16="http://schemas.microsoft.com/office/drawing/2014/main" id="{0590AAFF-4A18-9D30-B705-6754140E5262}"/>
              </a:ext>
            </a:extLst>
          </p:cNvPr>
          <p:cNvSpPr>
            <a:spLocks noGrp="1"/>
          </p:cNvSpPr>
          <p:nvPr>
            <p:ph type="subTitle" idx="1"/>
          </p:nvPr>
        </p:nvSpPr>
        <p:spPr>
          <a:xfrm>
            <a:off x="1507067" y="3765083"/>
            <a:ext cx="8237008" cy="1426042"/>
          </a:xfrm>
        </p:spPr>
        <p:txBody>
          <a:bodyPr>
            <a:noAutofit/>
          </a:bodyPr>
          <a:lstStyle/>
          <a:p>
            <a:pPr algn="ctr"/>
            <a:r>
              <a:rPr lang="fr-CA" b="1" dirty="0">
                <a:latin typeface="Calibri" panose="020F0502020204030204" pitchFamily="34" charset="0"/>
                <a:ea typeface="Calibri" panose="020F0502020204030204" pitchFamily="34" charset="0"/>
                <a:cs typeface="Calibri" panose="020F0502020204030204" pitchFamily="34" charset="0"/>
              </a:rPr>
              <a:t>Nom : Steve Ngayap</a:t>
            </a:r>
          </a:p>
          <a:p>
            <a:pPr algn="ctr"/>
            <a:r>
              <a:rPr lang="fr-CA" b="1" dirty="0">
                <a:latin typeface="Calibri" panose="020F0502020204030204" pitchFamily="34" charset="0"/>
                <a:ea typeface="Calibri" panose="020F0502020204030204" pitchFamily="34" charset="0"/>
                <a:cs typeface="Calibri" panose="020F0502020204030204" pitchFamily="34" charset="0"/>
              </a:rPr>
              <a:t>Programme : Programme court de second cycle en technologies de l’information option sciences des données</a:t>
            </a:r>
          </a:p>
          <a:p>
            <a:pPr algn="ctr"/>
            <a:r>
              <a:rPr lang="fr-CA" b="1" dirty="0">
                <a:latin typeface="Calibri" panose="020F0502020204030204" pitchFamily="34" charset="0"/>
                <a:ea typeface="Calibri" panose="020F0502020204030204" pitchFamily="34" charset="0"/>
                <a:cs typeface="Calibri" panose="020F0502020204030204" pitchFamily="34" charset="0"/>
              </a:rPr>
              <a:t>Date : 24 mars 2026</a:t>
            </a:r>
          </a:p>
        </p:txBody>
      </p:sp>
    </p:spTree>
    <p:extLst>
      <p:ext uri="{BB962C8B-B14F-4D97-AF65-F5344CB8AC3E}">
        <p14:creationId xmlns:p14="http://schemas.microsoft.com/office/powerpoint/2010/main" val="85391039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1000"/>
                                        <p:tgtEl>
                                          <p:spTgt spid="2"/>
                                        </p:tgtEl>
                                      </p:cBhvr>
                                    </p:animEffect>
                                  </p:childTnLst>
                                </p:cTn>
                              </p:par>
                            </p:childTnLst>
                          </p:cTn>
                        </p:par>
                      </p:childTnLst>
                    </p:cTn>
                  </p:par>
                </p:childTnLst>
              </p:cTn>
              <p:nextCondLst>
                <p:cond evt="onClick" delay="0">
                  <p:tgtEl>
                    <p:spTgt spid="2"/>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497BD7A-1C82-B6CD-F6A4-02D597C1F3A6}"/>
              </a:ext>
            </a:extLst>
          </p:cNvPr>
          <p:cNvSpPr>
            <a:spLocks noGrp="1"/>
          </p:cNvSpPr>
          <p:nvPr>
            <p:ph type="title"/>
          </p:nvPr>
        </p:nvSpPr>
        <p:spPr>
          <a:xfrm>
            <a:off x="677334" y="609600"/>
            <a:ext cx="8596668" cy="857250"/>
          </a:xfrm>
        </p:spPr>
        <p:txBody>
          <a:bodyPr/>
          <a:lstStyle/>
          <a:p>
            <a:pPr algn="just"/>
            <a:r>
              <a:rPr lang="fr-CA" dirty="0">
                <a:latin typeface="Calibri" panose="020F0502020204030204" pitchFamily="34" charset="0"/>
                <a:ea typeface="Calibri" panose="020F0502020204030204" pitchFamily="34" charset="0"/>
                <a:cs typeface="Calibri" panose="020F0502020204030204" pitchFamily="34" charset="0"/>
              </a:rPr>
              <a:t>Contexte et problématique</a:t>
            </a:r>
          </a:p>
        </p:txBody>
      </p:sp>
      <p:sp>
        <p:nvSpPr>
          <p:cNvPr id="3" name="Espace réservé du contenu 2">
            <a:extLst>
              <a:ext uri="{FF2B5EF4-FFF2-40B4-BE49-F238E27FC236}">
                <a16:creationId xmlns:a16="http://schemas.microsoft.com/office/drawing/2014/main" id="{825CA817-B159-2521-B3A5-3E21123FE774}"/>
              </a:ext>
            </a:extLst>
          </p:cNvPr>
          <p:cNvSpPr>
            <a:spLocks noGrp="1"/>
          </p:cNvSpPr>
          <p:nvPr>
            <p:ph idx="1"/>
          </p:nvPr>
        </p:nvSpPr>
        <p:spPr>
          <a:xfrm>
            <a:off x="677334" y="1570040"/>
            <a:ext cx="8961966" cy="2135186"/>
          </a:xfrm>
        </p:spPr>
        <p:txBody>
          <a:bodyPr/>
          <a:lstStyle/>
          <a:p>
            <a:pPr marL="0" indent="0" algn="just">
              <a:buNone/>
            </a:pPr>
            <a:r>
              <a:rPr lang="fr-CA" dirty="0">
                <a:latin typeface="Calibri" panose="020F0502020204030204" pitchFamily="34" charset="0"/>
                <a:ea typeface="Calibri" panose="020F0502020204030204" pitchFamily="34" charset="0"/>
                <a:cs typeface="Calibri" panose="020F0502020204030204" pitchFamily="34" charset="0"/>
              </a:rPr>
              <a:t>L’inflation est un enjeu économique majeur qui influence le pouvoir d’achat des ménages et les décisions des politiques publiques.</a:t>
            </a:r>
          </a:p>
          <a:p>
            <a:pPr marL="0" indent="0" algn="just">
              <a:buNone/>
            </a:pPr>
            <a:r>
              <a:rPr lang="fr-CA" dirty="0">
                <a:latin typeface="Calibri" panose="020F0502020204030204" pitchFamily="34" charset="0"/>
                <a:ea typeface="Calibri" panose="020F0502020204030204" pitchFamily="34" charset="0"/>
                <a:cs typeface="Calibri" panose="020F0502020204030204" pitchFamily="34" charset="0"/>
              </a:rPr>
              <a:t>Au Canada, l’évolution des prix varie selon les catégories de consommation, ce qui soulève la question suivante : </a:t>
            </a:r>
            <a:r>
              <a:rPr lang="fr-CA" b="1" i="1" dirty="0">
                <a:latin typeface="Calibri" panose="020F0502020204030204" pitchFamily="34" charset="0"/>
                <a:ea typeface="Calibri" panose="020F0502020204030204" pitchFamily="34" charset="0"/>
                <a:cs typeface="Calibri" panose="020F0502020204030204" pitchFamily="34" charset="0"/>
              </a:rPr>
              <a:t>Quels sont les principaux facteurs qui expliquent les variations de l’IPC global au Canada ?</a:t>
            </a:r>
          </a:p>
        </p:txBody>
      </p:sp>
    </p:spTree>
    <p:extLst>
      <p:ext uri="{BB962C8B-B14F-4D97-AF65-F5344CB8AC3E}">
        <p14:creationId xmlns:p14="http://schemas.microsoft.com/office/powerpoint/2010/main" val="404229703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8E00BAE-CD3C-E202-96EB-5A3A1C0421DB}"/>
              </a:ext>
            </a:extLst>
          </p:cNvPr>
          <p:cNvSpPr>
            <a:spLocks noGrp="1"/>
          </p:cNvSpPr>
          <p:nvPr>
            <p:ph type="title"/>
          </p:nvPr>
        </p:nvSpPr>
        <p:spPr>
          <a:xfrm>
            <a:off x="677334" y="609600"/>
            <a:ext cx="8596668" cy="638175"/>
          </a:xfrm>
        </p:spPr>
        <p:txBody>
          <a:bodyPr>
            <a:normAutofit fontScale="90000"/>
          </a:bodyPr>
          <a:lstStyle/>
          <a:p>
            <a:pPr algn="just"/>
            <a:r>
              <a:rPr lang="fr-CA" dirty="0"/>
              <a:t>Définition de l’IPC et contexte canadien</a:t>
            </a:r>
          </a:p>
        </p:txBody>
      </p:sp>
      <p:sp>
        <p:nvSpPr>
          <p:cNvPr id="3" name="Espace réservé du contenu 2">
            <a:extLst>
              <a:ext uri="{FF2B5EF4-FFF2-40B4-BE49-F238E27FC236}">
                <a16:creationId xmlns:a16="http://schemas.microsoft.com/office/drawing/2014/main" id="{29FE2CB1-DB64-B97E-571F-D1FEEE994736}"/>
              </a:ext>
            </a:extLst>
          </p:cNvPr>
          <p:cNvSpPr>
            <a:spLocks noGrp="1"/>
          </p:cNvSpPr>
          <p:nvPr>
            <p:ph idx="1"/>
          </p:nvPr>
        </p:nvSpPr>
        <p:spPr>
          <a:xfrm>
            <a:off x="763059" y="1370014"/>
            <a:ext cx="8596668" cy="3880773"/>
          </a:xfrm>
        </p:spPr>
        <p:txBody>
          <a:bodyPr>
            <a:normAutofit/>
          </a:bodyPr>
          <a:lstStyle/>
          <a:p>
            <a:pPr marL="0" indent="0" algn="just">
              <a:buNone/>
            </a:pPr>
            <a:r>
              <a:rPr lang="fr-CA" dirty="0"/>
              <a:t>L’Indice des prix à la consommation (IPC) mesure l’évolution moyenne des prix d’un panier de biens et services consommés par les ménages.</a:t>
            </a:r>
          </a:p>
          <a:p>
            <a:pPr marL="0" indent="0" algn="just">
              <a:buNone/>
            </a:pPr>
            <a:r>
              <a:rPr lang="fr-CA" dirty="0"/>
              <a:t>Il constitue l’indicateur principal de l’inflation et est utilisé pour :</a:t>
            </a:r>
          </a:p>
          <a:p>
            <a:pPr algn="just"/>
            <a:r>
              <a:rPr lang="fr-CA" dirty="0"/>
              <a:t>évaluer le coût de la vie</a:t>
            </a:r>
          </a:p>
          <a:p>
            <a:pPr algn="just"/>
            <a:r>
              <a:rPr lang="fr-CA" dirty="0"/>
              <a:t>ajuster les politiques économiques</a:t>
            </a:r>
          </a:p>
          <a:p>
            <a:pPr algn="just"/>
            <a:r>
              <a:rPr lang="fr-CA" dirty="0"/>
              <a:t>suivre l’évolution des prix dans le temps</a:t>
            </a:r>
          </a:p>
          <a:p>
            <a:pPr marL="0" indent="0" algn="just">
              <a:buNone/>
            </a:pPr>
            <a:r>
              <a:rPr lang="fr-CA" dirty="0"/>
              <a:t>Au Canada, l’IPC est calculé par Statistique Canada. Le panier de consommation est mis à jour régulièrement afin de refléter les habitudes des ménages.</a:t>
            </a:r>
          </a:p>
          <a:p>
            <a:pPr marL="0" indent="0" algn="just">
              <a:buNone/>
            </a:pPr>
            <a:r>
              <a:rPr lang="fr-CA" dirty="0"/>
              <a:t>L’IPC joue un rôle clé dans les décisions de la Banque du Canada, l’indexation des salaires et des prestations et l’analyse économique nationale.</a:t>
            </a:r>
          </a:p>
        </p:txBody>
      </p:sp>
    </p:spTree>
    <p:extLst>
      <p:ext uri="{BB962C8B-B14F-4D97-AF65-F5344CB8AC3E}">
        <p14:creationId xmlns:p14="http://schemas.microsoft.com/office/powerpoint/2010/main" val="2302034232"/>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8AF89F8-E61B-37B5-BC50-C6DD04AA065E}"/>
              </a:ext>
            </a:extLst>
          </p:cNvPr>
          <p:cNvSpPr>
            <a:spLocks noGrp="1"/>
          </p:cNvSpPr>
          <p:nvPr>
            <p:ph type="title"/>
          </p:nvPr>
        </p:nvSpPr>
        <p:spPr>
          <a:xfrm>
            <a:off x="677334" y="609600"/>
            <a:ext cx="8596668" cy="828675"/>
          </a:xfrm>
        </p:spPr>
        <p:txBody>
          <a:bodyPr/>
          <a:lstStyle/>
          <a:p>
            <a:pPr algn="just"/>
            <a:r>
              <a:rPr lang="fr-CA" dirty="0"/>
              <a:t>Composantes de l’IPC</a:t>
            </a:r>
          </a:p>
        </p:txBody>
      </p:sp>
      <p:sp>
        <p:nvSpPr>
          <p:cNvPr id="3" name="Espace réservé du contenu 2">
            <a:extLst>
              <a:ext uri="{FF2B5EF4-FFF2-40B4-BE49-F238E27FC236}">
                <a16:creationId xmlns:a16="http://schemas.microsoft.com/office/drawing/2014/main" id="{20793149-C6A6-953D-96CF-76FCA8FD408F}"/>
              </a:ext>
            </a:extLst>
          </p:cNvPr>
          <p:cNvSpPr>
            <a:spLocks noGrp="1"/>
          </p:cNvSpPr>
          <p:nvPr>
            <p:ph idx="1"/>
          </p:nvPr>
        </p:nvSpPr>
        <p:spPr>
          <a:xfrm>
            <a:off x="677334" y="1488613"/>
            <a:ext cx="8596668" cy="3880773"/>
          </a:xfrm>
        </p:spPr>
        <p:txBody>
          <a:bodyPr>
            <a:normAutofit/>
          </a:bodyPr>
          <a:lstStyle/>
          <a:p>
            <a:pPr marL="0" indent="0" algn="just">
              <a:buNone/>
            </a:pPr>
            <a:r>
              <a:rPr lang="fr-CA" dirty="0"/>
              <a:t>L’IPC est composé de plusieurs catégories de dépenses :</a:t>
            </a:r>
          </a:p>
          <a:p>
            <a:pPr algn="just"/>
            <a:r>
              <a:rPr lang="fr-CA" b="1" dirty="0"/>
              <a:t>Aliments</a:t>
            </a:r>
          </a:p>
          <a:p>
            <a:pPr algn="just"/>
            <a:r>
              <a:rPr lang="fr-CA" b="1" dirty="0"/>
              <a:t>Logement</a:t>
            </a:r>
          </a:p>
          <a:p>
            <a:pPr algn="just"/>
            <a:r>
              <a:rPr lang="fr-CA" b="1" dirty="0"/>
              <a:t>Transport</a:t>
            </a:r>
          </a:p>
          <a:p>
            <a:pPr algn="just"/>
            <a:r>
              <a:rPr lang="fr-CA" b="1" dirty="0"/>
              <a:t>Ameublement et équipage du ménage</a:t>
            </a:r>
          </a:p>
          <a:p>
            <a:pPr algn="just"/>
            <a:r>
              <a:rPr lang="fr-CA" b="1" dirty="0"/>
              <a:t>Santé et soins personnels</a:t>
            </a:r>
          </a:p>
          <a:p>
            <a:pPr algn="just"/>
            <a:r>
              <a:rPr lang="fr-CA" b="1" dirty="0"/>
              <a:t>Loisirs, formation et lecture</a:t>
            </a:r>
          </a:p>
          <a:p>
            <a:pPr algn="just"/>
            <a:r>
              <a:rPr lang="fr-CA" b="1" dirty="0"/>
              <a:t>Boissons alcoolisées, tabac et cannabis</a:t>
            </a:r>
          </a:p>
          <a:p>
            <a:pPr marL="0" indent="0" algn="just">
              <a:buNone/>
            </a:pPr>
            <a:r>
              <a:rPr lang="fr-CA" dirty="0"/>
              <a:t>Chaque composante a un poids spécifique dans le calcul de l’IPC global.</a:t>
            </a:r>
          </a:p>
        </p:txBody>
      </p:sp>
    </p:spTree>
    <p:extLst>
      <p:ext uri="{BB962C8B-B14F-4D97-AF65-F5344CB8AC3E}">
        <p14:creationId xmlns:p14="http://schemas.microsoft.com/office/powerpoint/2010/main" val="2448917792"/>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127547-EC4F-A00A-5210-1F73FE7161B8}"/>
              </a:ext>
            </a:extLst>
          </p:cNvPr>
          <p:cNvSpPr>
            <a:spLocks noGrp="1"/>
          </p:cNvSpPr>
          <p:nvPr>
            <p:ph type="title"/>
          </p:nvPr>
        </p:nvSpPr>
        <p:spPr>
          <a:xfrm>
            <a:off x="677334" y="609600"/>
            <a:ext cx="8596668" cy="733425"/>
          </a:xfrm>
        </p:spPr>
        <p:txBody>
          <a:bodyPr/>
          <a:lstStyle/>
          <a:p>
            <a:pPr algn="just"/>
            <a:r>
              <a:rPr lang="fr-CA" dirty="0"/>
              <a:t>Objectif du projet</a:t>
            </a:r>
          </a:p>
        </p:txBody>
      </p:sp>
      <p:sp>
        <p:nvSpPr>
          <p:cNvPr id="3" name="Espace réservé du contenu 2">
            <a:extLst>
              <a:ext uri="{FF2B5EF4-FFF2-40B4-BE49-F238E27FC236}">
                <a16:creationId xmlns:a16="http://schemas.microsoft.com/office/drawing/2014/main" id="{1781FF9A-892F-47E3-561D-E0096184F16C}"/>
              </a:ext>
            </a:extLst>
          </p:cNvPr>
          <p:cNvSpPr>
            <a:spLocks noGrp="1"/>
          </p:cNvSpPr>
          <p:nvPr>
            <p:ph idx="1"/>
          </p:nvPr>
        </p:nvSpPr>
        <p:spPr>
          <a:xfrm>
            <a:off x="677334" y="1598614"/>
            <a:ext cx="8596668" cy="3880773"/>
          </a:xfrm>
        </p:spPr>
        <p:txBody>
          <a:bodyPr/>
          <a:lstStyle/>
          <a:p>
            <a:pPr marL="0" indent="0" algn="just">
              <a:buNone/>
            </a:pPr>
            <a:r>
              <a:rPr lang="fr-CA" dirty="0"/>
              <a:t>L’objectif de ce projet est de/d’ :</a:t>
            </a:r>
          </a:p>
          <a:p>
            <a:pPr algn="just"/>
            <a:r>
              <a:rPr lang="fr-CA" dirty="0"/>
              <a:t>analyser l’évolution de l’IPC au Canada</a:t>
            </a:r>
          </a:p>
          <a:p>
            <a:pPr algn="just"/>
            <a:r>
              <a:rPr lang="fr-CA" dirty="0"/>
              <a:t>Identifier les composantes qui influencent le plus l’IPC global</a:t>
            </a:r>
          </a:p>
          <a:p>
            <a:pPr algn="just"/>
            <a:r>
              <a:rPr lang="fr-CA" dirty="0"/>
              <a:t>modéliser la relation entre l’IPC global et ses déterminants</a:t>
            </a:r>
          </a:p>
          <a:p>
            <a:pPr algn="just"/>
            <a:r>
              <a:rPr lang="fr-CA" dirty="0"/>
              <a:t>proposer une analyse prédictive de l’inflation.</a:t>
            </a:r>
          </a:p>
        </p:txBody>
      </p:sp>
    </p:spTree>
    <p:extLst>
      <p:ext uri="{BB962C8B-B14F-4D97-AF65-F5344CB8AC3E}">
        <p14:creationId xmlns:p14="http://schemas.microsoft.com/office/powerpoint/2010/main" val="1458934561"/>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EE286DB-DEFD-29B9-73A5-C8B905E1F8A3}"/>
              </a:ext>
            </a:extLst>
          </p:cNvPr>
          <p:cNvSpPr>
            <a:spLocks noGrp="1"/>
          </p:cNvSpPr>
          <p:nvPr>
            <p:ph type="title"/>
          </p:nvPr>
        </p:nvSpPr>
        <p:spPr>
          <a:xfrm>
            <a:off x="677334" y="609600"/>
            <a:ext cx="8596668" cy="647700"/>
          </a:xfrm>
        </p:spPr>
        <p:txBody>
          <a:bodyPr/>
          <a:lstStyle/>
          <a:p>
            <a:pPr algn="just"/>
            <a:r>
              <a:rPr lang="fr-CA" dirty="0"/>
              <a:t>Hypothèse</a:t>
            </a:r>
          </a:p>
        </p:txBody>
      </p:sp>
      <p:sp>
        <p:nvSpPr>
          <p:cNvPr id="3" name="Espace réservé du contenu 2">
            <a:extLst>
              <a:ext uri="{FF2B5EF4-FFF2-40B4-BE49-F238E27FC236}">
                <a16:creationId xmlns:a16="http://schemas.microsoft.com/office/drawing/2014/main" id="{EC7A2D19-BA29-C883-EB45-56EC37B62925}"/>
              </a:ext>
            </a:extLst>
          </p:cNvPr>
          <p:cNvSpPr>
            <a:spLocks noGrp="1"/>
          </p:cNvSpPr>
          <p:nvPr>
            <p:ph idx="1"/>
          </p:nvPr>
        </p:nvSpPr>
        <p:spPr>
          <a:xfrm>
            <a:off x="677334" y="1488613"/>
            <a:ext cx="8596668" cy="1406987"/>
          </a:xfrm>
        </p:spPr>
        <p:txBody>
          <a:bodyPr/>
          <a:lstStyle/>
          <a:p>
            <a:pPr marL="0" indent="0">
              <a:buNone/>
            </a:pPr>
            <a:r>
              <a:rPr lang="fr-CA" dirty="0"/>
              <a:t>Certaines composantes, notamment le logement et l’alimentation, ont un impact plus important sur l’IPC global que les autres catégories.</a:t>
            </a:r>
          </a:p>
          <a:p>
            <a:pPr marL="0" indent="0">
              <a:buNone/>
            </a:pPr>
            <a:r>
              <a:rPr lang="fr-CA" dirty="0"/>
              <a:t>L’IPC global est principalement expliqué par un nombre limité de variables clés.</a:t>
            </a:r>
          </a:p>
        </p:txBody>
      </p:sp>
    </p:spTree>
    <p:extLst>
      <p:ext uri="{BB962C8B-B14F-4D97-AF65-F5344CB8AC3E}">
        <p14:creationId xmlns:p14="http://schemas.microsoft.com/office/powerpoint/2010/main" val="62744466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3BC1B1F-8930-79DD-7A3A-CC56D2C5D577}"/>
              </a:ext>
            </a:extLst>
          </p:cNvPr>
          <p:cNvSpPr>
            <a:spLocks noGrp="1"/>
          </p:cNvSpPr>
          <p:nvPr>
            <p:ph type="title"/>
          </p:nvPr>
        </p:nvSpPr>
        <p:spPr>
          <a:xfrm>
            <a:off x="677334" y="609600"/>
            <a:ext cx="8596668" cy="733425"/>
          </a:xfrm>
        </p:spPr>
        <p:txBody>
          <a:bodyPr/>
          <a:lstStyle/>
          <a:p>
            <a:pPr algn="just"/>
            <a:r>
              <a:rPr lang="fr-CA" dirty="0"/>
              <a:t>Données utilisées</a:t>
            </a:r>
          </a:p>
        </p:txBody>
      </p:sp>
      <p:sp>
        <p:nvSpPr>
          <p:cNvPr id="3" name="Espace réservé du contenu 2">
            <a:extLst>
              <a:ext uri="{FF2B5EF4-FFF2-40B4-BE49-F238E27FC236}">
                <a16:creationId xmlns:a16="http://schemas.microsoft.com/office/drawing/2014/main" id="{3222D63D-C7BE-F162-F763-80320764E907}"/>
              </a:ext>
            </a:extLst>
          </p:cNvPr>
          <p:cNvSpPr>
            <a:spLocks noGrp="1"/>
          </p:cNvSpPr>
          <p:nvPr>
            <p:ph idx="1"/>
          </p:nvPr>
        </p:nvSpPr>
        <p:spPr>
          <a:xfrm>
            <a:off x="744009" y="1488614"/>
            <a:ext cx="8596668" cy="2102312"/>
          </a:xfrm>
        </p:spPr>
        <p:txBody>
          <a:bodyPr/>
          <a:lstStyle/>
          <a:p>
            <a:pPr marL="0" indent="0" algn="just">
              <a:buNone/>
            </a:pPr>
            <a:r>
              <a:rPr lang="fr-CA" dirty="0"/>
              <a:t>Les données proviennent de Statistique Canda et couvrent la période 2015 à 2025.</a:t>
            </a:r>
          </a:p>
          <a:p>
            <a:pPr marL="0" indent="0" algn="just">
              <a:buNone/>
            </a:pPr>
            <a:r>
              <a:rPr lang="fr-CA" dirty="0"/>
              <a:t>Caractéristiques :</a:t>
            </a:r>
          </a:p>
          <a:p>
            <a:pPr algn="just"/>
            <a:r>
              <a:rPr lang="fr-CA" dirty="0"/>
              <a:t>données annuelles</a:t>
            </a:r>
          </a:p>
          <a:p>
            <a:pPr algn="just"/>
            <a:r>
              <a:rPr lang="fr-CA" dirty="0"/>
              <a:t>plusieurs catégories de dépenses</a:t>
            </a:r>
          </a:p>
          <a:p>
            <a:pPr algn="just"/>
            <a:r>
              <a:rPr lang="fr-CA" dirty="0"/>
              <a:t>données nettoyées et structurées (Excel + R)</a:t>
            </a:r>
          </a:p>
        </p:txBody>
      </p:sp>
    </p:spTree>
    <p:extLst>
      <p:ext uri="{BB962C8B-B14F-4D97-AF65-F5344CB8AC3E}">
        <p14:creationId xmlns:p14="http://schemas.microsoft.com/office/powerpoint/2010/main" val="395492023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E0DE624-0F71-79EF-F893-B74BF68879CF}"/>
              </a:ext>
            </a:extLst>
          </p:cNvPr>
          <p:cNvSpPr>
            <a:spLocks noGrp="1"/>
          </p:cNvSpPr>
          <p:nvPr>
            <p:ph type="title"/>
          </p:nvPr>
        </p:nvSpPr>
        <p:spPr>
          <a:xfrm>
            <a:off x="677334" y="609600"/>
            <a:ext cx="8596668" cy="914400"/>
          </a:xfrm>
        </p:spPr>
        <p:txBody>
          <a:bodyPr/>
          <a:lstStyle/>
          <a:p>
            <a:pPr algn="just"/>
            <a:r>
              <a:rPr lang="fr-CA" dirty="0"/>
              <a:t>Méthodologie</a:t>
            </a:r>
          </a:p>
        </p:txBody>
      </p:sp>
      <p:sp>
        <p:nvSpPr>
          <p:cNvPr id="3" name="Espace réservé du contenu 2">
            <a:extLst>
              <a:ext uri="{FF2B5EF4-FFF2-40B4-BE49-F238E27FC236}">
                <a16:creationId xmlns:a16="http://schemas.microsoft.com/office/drawing/2014/main" id="{294CFB20-6F64-AE2B-62F3-EC9E78DDAB64}"/>
              </a:ext>
            </a:extLst>
          </p:cNvPr>
          <p:cNvSpPr>
            <a:spLocks noGrp="1"/>
          </p:cNvSpPr>
          <p:nvPr>
            <p:ph idx="1"/>
          </p:nvPr>
        </p:nvSpPr>
        <p:spPr>
          <a:xfrm>
            <a:off x="677333" y="1524000"/>
            <a:ext cx="8914341" cy="3880773"/>
          </a:xfrm>
        </p:spPr>
        <p:txBody>
          <a:bodyPr>
            <a:normAutofit lnSpcReduction="10000"/>
          </a:bodyPr>
          <a:lstStyle/>
          <a:p>
            <a:pPr marL="0" indent="0" algn="just">
              <a:buNone/>
            </a:pPr>
            <a:r>
              <a:rPr lang="fr-CA" dirty="0"/>
              <a:t>Le projet est réalisé en plusieurs étapes : </a:t>
            </a:r>
          </a:p>
          <a:p>
            <a:pPr algn="just"/>
            <a:r>
              <a:rPr lang="fr-CA" dirty="0"/>
              <a:t>Nettoyage et préparation des données</a:t>
            </a:r>
          </a:p>
          <a:p>
            <a:pPr algn="just"/>
            <a:r>
              <a:rPr lang="fr-CA" dirty="0"/>
              <a:t>Analyse descriptive</a:t>
            </a:r>
          </a:p>
          <a:p>
            <a:pPr algn="just"/>
            <a:r>
              <a:rPr lang="fr-CA" dirty="0"/>
              <a:t>Visualisation des tendances</a:t>
            </a:r>
          </a:p>
          <a:p>
            <a:pPr algn="just"/>
            <a:r>
              <a:rPr lang="fr-CA" dirty="0"/>
              <a:t>Analyse de corrélation</a:t>
            </a:r>
          </a:p>
          <a:p>
            <a:pPr algn="just"/>
            <a:r>
              <a:rPr lang="fr-CA" dirty="0"/>
              <a:t>Modélisation par régression</a:t>
            </a:r>
          </a:p>
          <a:p>
            <a:pPr algn="just"/>
            <a:r>
              <a:rPr lang="fr-CA" dirty="0"/>
              <a:t>Prédiction</a:t>
            </a:r>
          </a:p>
          <a:p>
            <a:pPr algn="just"/>
            <a:r>
              <a:rPr lang="fr-CA" dirty="0"/>
              <a:t>Interprétation des résultats</a:t>
            </a:r>
          </a:p>
          <a:p>
            <a:pPr marL="0" indent="0" algn="just">
              <a:buNone/>
            </a:pPr>
            <a:r>
              <a:rPr lang="fr-CA" dirty="0"/>
              <a:t>Les données ayant déjà été préparées, l’on procèdera à l’analyse descriptive, qui permettra d’examiner l’évolution de l’IPC et de ses composantes dans le temps. Cette étape constitue la base pour comprendre les dynamiques de l’inflation au Canada.</a:t>
            </a:r>
          </a:p>
        </p:txBody>
      </p:sp>
    </p:spTree>
    <p:extLst>
      <p:ext uri="{BB962C8B-B14F-4D97-AF65-F5344CB8AC3E}">
        <p14:creationId xmlns:p14="http://schemas.microsoft.com/office/powerpoint/2010/main" val="388173742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6D751BC-E0FF-C1D2-6D82-0F140A5912EB}"/>
              </a:ext>
            </a:extLst>
          </p:cNvPr>
          <p:cNvSpPr>
            <a:spLocks noGrp="1"/>
          </p:cNvSpPr>
          <p:nvPr>
            <p:ph type="title"/>
          </p:nvPr>
        </p:nvSpPr>
        <p:spPr>
          <a:xfrm>
            <a:off x="342900" y="609600"/>
            <a:ext cx="8931102" cy="762000"/>
          </a:xfrm>
        </p:spPr>
        <p:txBody>
          <a:bodyPr/>
          <a:lstStyle/>
          <a:p>
            <a:pPr algn="just"/>
            <a:r>
              <a:rPr lang="fr-CA" dirty="0"/>
              <a:t>Analyse descriptive – Préparation des données</a:t>
            </a:r>
          </a:p>
        </p:txBody>
      </p:sp>
      <p:sp>
        <p:nvSpPr>
          <p:cNvPr id="3" name="Espace réservé du contenu 2">
            <a:extLst>
              <a:ext uri="{FF2B5EF4-FFF2-40B4-BE49-F238E27FC236}">
                <a16:creationId xmlns:a16="http://schemas.microsoft.com/office/drawing/2014/main" id="{F63B80C1-D942-9F68-0F75-FF8E612467BB}"/>
              </a:ext>
            </a:extLst>
          </p:cNvPr>
          <p:cNvSpPr>
            <a:spLocks noGrp="1"/>
          </p:cNvSpPr>
          <p:nvPr>
            <p:ph idx="1"/>
          </p:nvPr>
        </p:nvSpPr>
        <p:spPr>
          <a:xfrm>
            <a:off x="429683" y="1371601"/>
            <a:ext cx="9104841" cy="2514600"/>
          </a:xfrm>
        </p:spPr>
        <p:txBody>
          <a:bodyPr/>
          <a:lstStyle/>
          <a:p>
            <a:pPr marL="0" indent="0" algn="just">
              <a:buNone/>
            </a:pPr>
            <a:r>
              <a:rPr lang="fr-CA" dirty="0"/>
              <a:t>La première étape consiste à charger le fichier de données dans R et à vérifier la structure des variables.</a:t>
            </a:r>
          </a:p>
          <a:p>
            <a:pPr marL="0" indent="0" algn="just">
              <a:buNone/>
            </a:pPr>
            <a:r>
              <a:rPr lang="fr-CA" dirty="0"/>
              <a:t>Le jeu de données comprend une variable temporelle (Année), une variable cible </a:t>
            </a:r>
            <a:r>
              <a:rPr lang="fr-CA" b="1" dirty="0"/>
              <a:t>(IPC global – Ensemble) </a:t>
            </a:r>
            <a:r>
              <a:rPr lang="fr-CA" dirty="0"/>
              <a:t>et onze variables explicatives correspondant aux différentes composantes de l’IPC (aliments, logement, transport, etc.)</a:t>
            </a:r>
          </a:p>
          <a:p>
            <a:pPr marL="0" indent="0" algn="just">
              <a:buNone/>
            </a:pPr>
            <a:r>
              <a:rPr lang="fr-CA" dirty="0"/>
              <a:t>Cette étape permet de s’assurer que les données sont bien organisées et prêtes pour l’analyse descriptive sur la période 2015 à 2025. </a:t>
            </a:r>
          </a:p>
        </p:txBody>
      </p:sp>
    </p:spTree>
    <p:extLst>
      <p:ext uri="{BB962C8B-B14F-4D97-AF65-F5344CB8AC3E}">
        <p14:creationId xmlns:p14="http://schemas.microsoft.com/office/powerpoint/2010/main" val="404129823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5660425-959D-B603-E459-C8BFEB0F25C9}"/>
              </a:ext>
            </a:extLst>
          </p:cNvPr>
          <p:cNvSpPr>
            <a:spLocks noGrp="1"/>
          </p:cNvSpPr>
          <p:nvPr>
            <p:ph type="title"/>
          </p:nvPr>
        </p:nvSpPr>
        <p:spPr>
          <a:xfrm>
            <a:off x="343959" y="156239"/>
            <a:ext cx="8596668" cy="660400"/>
          </a:xfrm>
        </p:spPr>
        <p:txBody>
          <a:bodyPr/>
          <a:lstStyle/>
          <a:p>
            <a:pPr algn="just"/>
            <a:r>
              <a:rPr lang="fr-CA" dirty="0"/>
              <a:t>Analyse descriptive : Interprétation</a:t>
            </a:r>
          </a:p>
        </p:txBody>
      </p:sp>
      <p:sp>
        <p:nvSpPr>
          <p:cNvPr id="3" name="Espace réservé du contenu 2">
            <a:extLst>
              <a:ext uri="{FF2B5EF4-FFF2-40B4-BE49-F238E27FC236}">
                <a16:creationId xmlns:a16="http://schemas.microsoft.com/office/drawing/2014/main" id="{C2F2548B-22AC-A30F-D7EF-333E6E4D7106}"/>
              </a:ext>
            </a:extLst>
          </p:cNvPr>
          <p:cNvSpPr>
            <a:spLocks noGrp="1"/>
          </p:cNvSpPr>
          <p:nvPr>
            <p:ph sz="half" idx="1"/>
          </p:nvPr>
        </p:nvSpPr>
        <p:spPr>
          <a:xfrm>
            <a:off x="228600" y="1008064"/>
            <a:ext cx="5000625" cy="5411786"/>
          </a:xfrm>
        </p:spPr>
        <p:txBody>
          <a:bodyPr>
            <a:normAutofit fontScale="77500" lnSpcReduction="20000"/>
          </a:bodyPr>
          <a:lstStyle/>
          <a:p>
            <a:pPr marL="0" indent="0" algn="just">
              <a:buNone/>
            </a:pPr>
            <a:r>
              <a:rPr lang="fr-CA" dirty="0"/>
              <a:t>L’analyse des statistiques descriptives met en évidence une tendance générale à la hausse de l’IPC global sur la période 2015 - 2025, avec une moyenne de 142,4 et un maximum de 164,2.</a:t>
            </a:r>
          </a:p>
          <a:p>
            <a:pPr marL="0" indent="0" algn="just">
              <a:buNone/>
            </a:pPr>
            <a:r>
              <a:rPr lang="fr-CA" dirty="0"/>
              <a:t>Parmi les composantes :</a:t>
            </a:r>
          </a:p>
          <a:p>
            <a:pPr algn="just"/>
            <a:r>
              <a:rPr lang="fr-CA" b="1" dirty="0"/>
              <a:t>Les aliments </a:t>
            </a:r>
            <a:r>
              <a:rPr lang="fr-CA" dirty="0"/>
              <a:t>présentent des niveaux élevés et une forte progression (moyenne : 161,2; max : 195,3), indiquant une contribution importante à l’inflation.</a:t>
            </a:r>
          </a:p>
          <a:p>
            <a:pPr algn="just"/>
            <a:r>
              <a:rPr lang="fr-CA" b="1" dirty="0"/>
              <a:t>Le logement </a:t>
            </a:r>
            <a:r>
              <a:rPr lang="fr-CA" dirty="0"/>
              <a:t>montre également une augmentation significative (moyenne : 154,4), confirmant son rôle majeur dans l’évolution de l’IPC.</a:t>
            </a:r>
          </a:p>
          <a:p>
            <a:pPr algn="just"/>
            <a:r>
              <a:rPr lang="fr-CA" b="1" dirty="0"/>
              <a:t>Les transports et l’essence </a:t>
            </a:r>
            <a:r>
              <a:rPr lang="fr-CA" dirty="0"/>
              <a:t>affichent une forte variabilité notamment l’essence avec un maximum de 247,2, ce qui reflète la volatilité des prix de l’énergie.</a:t>
            </a:r>
          </a:p>
          <a:p>
            <a:pPr algn="just"/>
            <a:r>
              <a:rPr lang="fr-CA" b="1" dirty="0"/>
              <a:t>Les boissons </a:t>
            </a:r>
            <a:r>
              <a:rPr lang="fr-CA" dirty="0"/>
              <a:t>présentent également un niveau élevé (moyenne : 174,8), traduisant une hausse notable dans cette catégorie.</a:t>
            </a:r>
          </a:p>
          <a:p>
            <a:pPr marL="0" indent="0" algn="just">
              <a:buNone/>
            </a:pPr>
            <a:r>
              <a:rPr lang="fr-CA" dirty="0"/>
              <a:t>À l’inverse :</a:t>
            </a:r>
          </a:p>
          <a:p>
            <a:pPr algn="just"/>
            <a:r>
              <a:rPr lang="fr-CA" b="1" dirty="0"/>
              <a:t>L’habillement</a:t>
            </a:r>
            <a:r>
              <a:rPr lang="fr-CA" dirty="0"/>
              <a:t> reste relativement stable avec une faible variation (entre 93,3 et 96,4).</a:t>
            </a:r>
          </a:p>
          <a:p>
            <a:pPr algn="just"/>
            <a:r>
              <a:rPr lang="fr-CA" b="1" dirty="0"/>
              <a:t>Les biens et services </a:t>
            </a:r>
            <a:r>
              <a:rPr lang="fr-CA" dirty="0"/>
              <a:t>évoluent de manière plus modérée comparativement aux autres composantes.</a:t>
            </a:r>
          </a:p>
          <a:p>
            <a:pPr marL="0" indent="0" algn="just">
              <a:buNone/>
            </a:pPr>
            <a:r>
              <a:rPr lang="fr-CA" dirty="0"/>
              <a:t>Les résultats suggèrent que certaines catégories, notamment l’alimentation, le logement et l’énergie; jouent un rôle plus déterminant dans l’évolution de l’inflation au Canada.</a:t>
            </a:r>
          </a:p>
        </p:txBody>
      </p:sp>
      <p:pic>
        <p:nvPicPr>
          <p:cNvPr id="9" name="Espace réservé du contenu 8">
            <a:extLst>
              <a:ext uri="{FF2B5EF4-FFF2-40B4-BE49-F238E27FC236}">
                <a16:creationId xmlns:a16="http://schemas.microsoft.com/office/drawing/2014/main" id="{5952F4A4-3735-D7B5-AD4A-18AB05409FD1}"/>
              </a:ext>
            </a:extLst>
          </p:cNvPr>
          <p:cNvPicPr>
            <a:picLocks noGrp="1" noChangeAspect="1"/>
          </p:cNvPicPr>
          <p:nvPr>
            <p:ph sz="half" idx="2"/>
          </p:nvPr>
        </p:nvPicPr>
        <p:blipFill>
          <a:blip r:embed="rId2"/>
          <a:stretch>
            <a:fillRect/>
          </a:stretch>
        </p:blipFill>
        <p:spPr>
          <a:xfrm>
            <a:off x="5372100" y="1008064"/>
            <a:ext cx="5791200" cy="5268911"/>
          </a:xfrm>
          <a:prstGeom prst="rect">
            <a:avLst/>
          </a:prstGeom>
        </p:spPr>
      </p:pic>
    </p:spTree>
    <p:extLst>
      <p:ext uri="{BB962C8B-B14F-4D97-AF65-F5344CB8AC3E}">
        <p14:creationId xmlns:p14="http://schemas.microsoft.com/office/powerpoint/2010/main" val="382193899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4037FDF-4F67-D3BD-FB2C-16F27E442209}"/>
              </a:ext>
            </a:extLst>
          </p:cNvPr>
          <p:cNvSpPr>
            <a:spLocks noGrp="1"/>
          </p:cNvSpPr>
          <p:nvPr>
            <p:ph type="title"/>
          </p:nvPr>
        </p:nvSpPr>
        <p:spPr>
          <a:xfrm>
            <a:off x="258233" y="76200"/>
            <a:ext cx="9009591" cy="647700"/>
          </a:xfrm>
        </p:spPr>
        <p:txBody>
          <a:bodyPr>
            <a:normAutofit fontScale="90000"/>
          </a:bodyPr>
          <a:lstStyle/>
          <a:p>
            <a:pPr algn="just"/>
            <a:r>
              <a:rPr lang="fr-CA" dirty="0"/>
              <a:t>Évolution de l’IPC global au Canada (2015 – 2025)</a:t>
            </a:r>
          </a:p>
        </p:txBody>
      </p:sp>
      <p:sp>
        <p:nvSpPr>
          <p:cNvPr id="3" name="Espace réservé du contenu 2">
            <a:extLst>
              <a:ext uri="{FF2B5EF4-FFF2-40B4-BE49-F238E27FC236}">
                <a16:creationId xmlns:a16="http://schemas.microsoft.com/office/drawing/2014/main" id="{633B73E3-0E61-743F-6269-F05F0CCA59F2}"/>
              </a:ext>
            </a:extLst>
          </p:cNvPr>
          <p:cNvSpPr>
            <a:spLocks noGrp="1"/>
          </p:cNvSpPr>
          <p:nvPr>
            <p:ph sz="half" idx="1"/>
          </p:nvPr>
        </p:nvSpPr>
        <p:spPr>
          <a:xfrm>
            <a:off x="289560" y="808038"/>
            <a:ext cx="4184035" cy="5268911"/>
          </a:xfrm>
        </p:spPr>
        <p:txBody>
          <a:bodyPr>
            <a:normAutofit fontScale="85000" lnSpcReduction="20000"/>
          </a:bodyPr>
          <a:lstStyle/>
          <a:p>
            <a:pPr marL="0" indent="0" algn="just">
              <a:buNone/>
            </a:pPr>
            <a:r>
              <a:rPr lang="fr-CA" dirty="0"/>
              <a:t>Le graphique montre une tendance globale à la hausse de l’IPC au Canada sur la période 2015-2025.</a:t>
            </a:r>
          </a:p>
          <a:p>
            <a:pPr algn="just"/>
            <a:r>
              <a:rPr lang="fr-CA" dirty="0"/>
              <a:t>L’IPC passe d’environ 126,6 en 2015 à 164,2 en 2025, traduisant une augmentation significative du niveau général des prix.</a:t>
            </a:r>
          </a:p>
          <a:p>
            <a:pPr algn="just"/>
            <a:r>
              <a:rPr lang="fr-CA" dirty="0"/>
              <a:t>Entre 2015 et 2020, l’inflation évolue de manière progressive et relativement stable, traduisant un contexte économique modéré.</a:t>
            </a:r>
          </a:p>
          <a:p>
            <a:pPr algn="just"/>
            <a:r>
              <a:rPr lang="fr-CA" dirty="0"/>
              <a:t>À partir de 2021, une accélération marquée de l’inflation est observée, correspondant à la période postpandémie de COVID-19.</a:t>
            </a:r>
          </a:p>
          <a:p>
            <a:pPr algn="just"/>
            <a:r>
              <a:rPr lang="fr-CA" dirty="0"/>
              <a:t>Cette hausse peut s’expliquer par plusieurs facteurs, notamment les perturbations des chaînes d’approvisionnement, la reprise économique rapide et l’augmentation des coûts de l’énergie.</a:t>
            </a:r>
          </a:p>
          <a:p>
            <a:pPr algn="just"/>
            <a:r>
              <a:rPr lang="fr-CA" dirty="0"/>
              <a:t>Après 2022, l’inflation continue d’augmenter, mais à un rythme plus modéré.</a:t>
            </a:r>
          </a:p>
          <a:p>
            <a:pPr marL="0" indent="0" algn="just">
              <a:buNone/>
            </a:pPr>
            <a:r>
              <a:rPr lang="fr-CA" dirty="0"/>
              <a:t>La rupture observée à partir de 2021 reflète l’impact économique de la pandémie de COVID-19 et de la reprise post crise sur le niveau général des prix au Canada.</a:t>
            </a:r>
          </a:p>
        </p:txBody>
      </p:sp>
      <p:pic>
        <p:nvPicPr>
          <p:cNvPr id="6" name="Espace réservé du contenu 5">
            <a:extLst>
              <a:ext uri="{FF2B5EF4-FFF2-40B4-BE49-F238E27FC236}">
                <a16:creationId xmlns:a16="http://schemas.microsoft.com/office/drawing/2014/main" id="{DB45833A-3C90-84D4-A838-0C064C12C4DC}"/>
              </a:ext>
            </a:extLst>
          </p:cNvPr>
          <p:cNvPicPr>
            <a:picLocks noGrp="1" noChangeAspect="1"/>
          </p:cNvPicPr>
          <p:nvPr>
            <p:ph sz="half" idx="2"/>
          </p:nvPr>
        </p:nvPicPr>
        <p:blipFill>
          <a:blip r:embed="rId2"/>
          <a:stretch>
            <a:fillRect/>
          </a:stretch>
        </p:blipFill>
        <p:spPr>
          <a:xfrm>
            <a:off x="4853287" y="920750"/>
            <a:ext cx="5730240" cy="4908549"/>
          </a:xfrm>
          <a:prstGeom prst="rect">
            <a:avLst/>
          </a:prstGeom>
        </p:spPr>
      </p:pic>
    </p:spTree>
    <p:extLst>
      <p:ext uri="{BB962C8B-B14F-4D97-AF65-F5344CB8AC3E}">
        <p14:creationId xmlns:p14="http://schemas.microsoft.com/office/powerpoint/2010/main" val="155812954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6FD5C8D-B2C0-5C51-55DE-2015B0F78A90}"/>
              </a:ext>
            </a:extLst>
          </p:cNvPr>
          <p:cNvSpPr>
            <a:spLocks noGrp="1"/>
          </p:cNvSpPr>
          <p:nvPr>
            <p:ph type="title"/>
          </p:nvPr>
        </p:nvSpPr>
        <p:spPr>
          <a:xfrm>
            <a:off x="143934" y="85725"/>
            <a:ext cx="9266766" cy="1085849"/>
          </a:xfrm>
        </p:spPr>
        <p:txBody>
          <a:bodyPr>
            <a:normAutofit fontScale="90000"/>
          </a:bodyPr>
          <a:lstStyle/>
          <a:p>
            <a:pPr algn="just"/>
            <a:r>
              <a:rPr lang="fr-CA" dirty="0"/>
              <a:t>Évolution des composantes de l’IPC au Canada </a:t>
            </a:r>
            <a:br>
              <a:rPr lang="fr-CA" dirty="0"/>
            </a:br>
            <a:r>
              <a:rPr lang="fr-CA" dirty="0"/>
              <a:t>(2015 – 2025)</a:t>
            </a:r>
          </a:p>
        </p:txBody>
      </p:sp>
      <p:sp>
        <p:nvSpPr>
          <p:cNvPr id="3" name="Espace réservé du contenu 2">
            <a:extLst>
              <a:ext uri="{FF2B5EF4-FFF2-40B4-BE49-F238E27FC236}">
                <a16:creationId xmlns:a16="http://schemas.microsoft.com/office/drawing/2014/main" id="{2B0DCA0D-AA21-3E09-D5BF-5A5AFE9407BD}"/>
              </a:ext>
            </a:extLst>
          </p:cNvPr>
          <p:cNvSpPr>
            <a:spLocks noGrp="1"/>
          </p:cNvSpPr>
          <p:nvPr>
            <p:ph sz="half" idx="1"/>
          </p:nvPr>
        </p:nvSpPr>
        <p:spPr>
          <a:xfrm>
            <a:off x="234315" y="1290017"/>
            <a:ext cx="4832985" cy="4948857"/>
          </a:xfrm>
        </p:spPr>
        <p:txBody>
          <a:bodyPr>
            <a:normAutofit fontScale="77500" lnSpcReduction="20000"/>
          </a:bodyPr>
          <a:lstStyle/>
          <a:p>
            <a:pPr marL="0" indent="0" algn="just">
              <a:buNone/>
            </a:pPr>
            <a:r>
              <a:rPr lang="fr-CA" dirty="0"/>
              <a:t>Le graphique met en évidence des évolutions différenciées des composantes de l’IPC avec des niveaux et des dynamiques variés selon les catégories.</a:t>
            </a:r>
          </a:p>
          <a:p>
            <a:pPr algn="just"/>
            <a:r>
              <a:rPr lang="fr-CA" dirty="0"/>
              <a:t>L’essence se distingue par une forte volatilité, avec un pic marqué en 2022, reflétant l’instabilité des prix de l’énergie.</a:t>
            </a:r>
          </a:p>
          <a:p>
            <a:pPr algn="just"/>
            <a:r>
              <a:rPr lang="fr-CA" dirty="0"/>
              <a:t>Les aliments, le logement et les boissons présentent une hausse soutenue indiquant une contribution importante à l’inflation globale.</a:t>
            </a:r>
          </a:p>
          <a:p>
            <a:pPr algn="just"/>
            <a:r>
              <a:rPr lang="fr-CA" dirty="0"/>
              <a:t>Les transports connaissent également une progression notable, particulièrement après 2021,</a:t>
            </a:r>
          </a:p>
          <a:p>
            <a:pPr algn="just"/>
            <a:r>
              <a:rPr lang="fr-CA" dirty="0"/>
              <a:t>Les services et les soins évoluent de manière régulière, traduisant une inflation plus stable dans ces catégories.</a:t>
            </a:r>
          </a:p>
          <a:p>
            <a:pPr marL="0" indent="0" algn="just">
              <a:buNone/>
            </a:pPr>
            <a:r>
              <a:rPr lang="fr-CA" dirty="0"/>
              <a:t>À l’inverse : </a:t>
            </a:r>
          </a:p>
          <a:p>
            <a:pPr algn="just"/>
            <a:r>
              <a:rPr lang="fr-CA" dirty="0"/>
              <a:t>L’habillement reste relativement stable sur l’ensemble de la période.</a:t>
            </a:r>
          </a:p>
          <a:p>
            <a:pPr algn="just"/>
            <a:r>
              <a:rPr lang="fr-CA" dirty="0"/>
              <a:t>Les biens et les dépenses courantes affichent des variations modérées comparativement aux autres composantes.</a:t>
            </a:r>
          </a:p>
          <a:p>
            <a:pPr marL="0" indent="0" algn="just">
              <a:buNone/>
            </a:pPr>
            <a:r>
              <a:rPr lang="fr-CA" dirty="0"/>
              <a:t>Les résultats montrent que l’inflation au Canada est principalement tirée par un nombre limité de composantes, notamment l’énergie, l’alimentation et le logement.</a:t>
            </a:r>
          </a:p>
        </p:txBody>
      </p:sp>
      <p:pic>
        <p:nvPicPr>
          <p:cNvPr id="8" name="Espace réservé du contenu 7">
            <a:extLst>
              <a:ext uri="{FF2B5EF4-FFF2-40B4-BE49-F238E27FC236}">
                <a16:creationId xmlns:a16="http://schemas.microsoft.com/office/drawing/2014/main" id="{4CF8E20F-7568-3CD0-0C9E-F8D36DE0CE34}"/>
              </a:ext>
            </a:extLst>
          </p:cNvPr>
          <p:cNvPicPr>
            <a:picLocks noGrp="1" noChangeAspect="1"/>
          </p:cNvPicPr>
          <p:nvPr>
            <p:ph sz="half" idx="2"/>
          </p:nvPr>
        </p:nvPicPr>
        <p:blipFill>
          <a:blip r:embed="rId2"/>
          <a:stretch>
            <a:fillRect/>
          </a:stretch>
        </p:blipFill>
        <p:spPr>
          <a:xfrm>
            <a:off x="5524500" y="1171573"/>
            <a:ext cx="5699760" cy="4876801"/>
          </a:xfrm>
          <a:prstGeom prst="rect">
            <a:avLst/>
          </a:prstGeom>
        </p:spPr>
      </p:pic>
    </p:spTree>
    <p:extLst>
      <p:ext uri="{BB962C8B-B14F-4D97-AF65-F5344CB8AC3E}">
        <p14:creationId xmlns:p14="http://schemas.microsoft.com/office/powerpoint/2010/main" val="393033920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B5FDD2E-5315-8D11-58F2-43E795B95423}"/>
              </a:ext>
            </a:extLst>
          </p:cNvPr>
          <p:cNvSpPr>
            <a:spLocks noGrp="1"/>
          </p:cNvSpPr>
          <p:nvPr>
            <p:ph type="title"/>
          </p:nvPr>
        </p:nvSpPr>
        <p:spPr>
          <a:xfrm>
            <a:off x="203201" y="156239"/>
            <a:ext cx="8596668" cy="660400"/>
          </a:xfrm>
        </p:spPr>
        <p:txBody>
          <a:bodyPr/>
          <a:lstStyle/>
          <a:p>
            <a:pPr algn="just"/>
            <a:r>
              <a:rPr lang="fr-CA" dirty="0"/>
              <a:t>Analyse de corrélation</a:t>
            </a:r>
          </a:p>
        </p:txBody>
      </p:sp>
      <p:sp>
        <p:nvSpPr>
          <p:cNvPr id="3" name="Espace réservé du contenu 2">
            <a:extLst>
              <a:ext uri="{FF2B5EF4-FFF2-40B4-BE49-F238E27FC236}">
                <a16:creationId xmlns:a16="http://schemas.microsoft.com/office/drawing/2014/main" id="{E832032F-3A7E-BD14-4E60-20D5C40F53FB}"/>
              </a:ext>
            </a:extLst>
          </p:cNvPr>
          <p:cNvSpPr>
            <a:spLocks noGrp="1"/>
          </p:cNvSpPr>
          <p:nvPr>
            <p:ph sz="half" idx="1"/>
          </p:nvPr>
        </p:nvSpPr>
        <p:spPr>
          <a:xfrm>
            <a:off x="203201" y="816639"/>
            <a:ext cx="4511675" cy="5679411"/>
          </a:xfrm>
        </p:spPr>
        <p:txBody>
          <a:bodyPr>
            <a:noAutofit/>
          </a:bodyPr>
          <a:lstStyle/>
          <a:p>
            <a:pPr marL="0" indent="0" algn="just">
              <a:buNone/>
            </a:pPr>
            <a:r>
              <a:rPr lang="fr-CA" sz="1100" dirty="0"/>
              <a:t>L’analyse de corrélation montre une relation globalement très forte entre l’IPC global et la majorité de ses composantes.</a:t>
            </a:r>
          </a:p>
          <a:p>
            <a:pPr marL="0" indent="0" algn="just">
              <a:buNone/>
            </a:pPr>
            <a:r>
              <a:rPr lang="fr-CA" sz="1100" dirty="0"/>
              <a:t>Plusieurs variables présentent une corrélation très élevée avec l’IPC global, notamment : </a:t>
            </a:r>
          </a:p>
          <a:p>
            <a:pPr algn="just"/>
            <a:r>
              <a:rPr lang="fr-CA" sz="1100" b="1" dirty="0"/>
              <a:t>Aliments (0,995)</a:t>
            </a:r>
          </a:p>
          <a:p>
            <a:pPr algn="just"/>
            <a:r>
              <a:rPr lang="fr-CA" sz="1100" b="1" dirty="0"/>
              <a:t>Logement (0,995)</a:t>
            </a:r>
          </a:p>
          <a:p>
            <a:pPr algn="just"/>
            <a:r>
              <a:rPr lang="fr-CA" sz="1100" b="1" dirty="0"/>
              <a:t>Services (0,995)</a:t>
            </a:r>
          </a:p>
          <a:p>
            <a:pPr algn="just"/>
            <a:r>
              <a:rPr lang="fr-CA" sz="1100" b="1" dirty="0"/>
              <a:t>Soins (0,994)</a:t>
            </a:r>
          </a:p>
          <a:p>
            <a:pPr algn="just"/>
            <a:r>
              <a:rPr lang="fr-CA" sz="1100" b="1" dirty="0"/>
              <a:t>Biens (0,991)</a:t>
            </a:r>
          </a:p>
          <a:p>
            <a:pPr marL="0" indent="0" algn="just">
              <a:buNone/>
            </a:pPr>
            <a:r>
              <a:rPr lang="fr-CA" sz="1100" b="1" dirty="0"/>
              <a:t>Les transports et les boissons </a:t>
            </a:r>
            <a:r>
              <a:rPr lang="fr-CA" sz="1100" dirty="0"/>
              <a:t>affichent également une corrélation élevée (supérieure à 0,98), confirmant leur lien avec l’inflation globale.</a:t>
            </a:r>
          </a:p>
          <a:p>
            <a:pPr marL="0" indent="0" algn="just">
              <a:buNone/>
            </a:pPr>
            <a:r>
              <a:rPr lang="fr-CA" sz="1100" b="1" dirty="0"/>
              <a:t>L’essence</a:t>
            </a:r>
            <a:r>
              <a:rPr lang="fr-CA" sz="1100" dirty="0"/>
              <a:t> présente une corrélation plus modérée (0,848), ce qui s’explique par sa forte volatilité observée précédemment.</a:t>
            </a:r>
          </a:p>
          <a:p>
            <a:pPr marL="0" indent="0" algn="just">
              <a:buNone/>
            </a:pPr>
            <a:r>
              <a:rPr lang="fr-CA" sz="1100" b="1" dirty="0"/>
              <a:t>L’habillement </a:t>
            </a:r>
            <a:r>
              <a:rPr lang="fr-CA" sz="1100" dirty="0"/>
              <a:t>montre une corrélation quasi nulle voire légèrement négative, indiquant une contribution limitée à l’évolution de l’IPC global.</a:t>
            </a:r>
          </a:p>
          <a:p>
            <a:pPr marL="0" indent="0" algn="just">
              <a:buNone/>
            </a:pPr>
            <a:r>
              <a:rPr lang="fr-CA" sz="1100" b="1" dirty="0"/>
              <a:t>L’inflation globale </a:t>
            </a:r>
            <a:r>
              <a:rPr lang="fr-CA" sz="1100" dirty="0"/>
              <a:t>au Canada est fortement associée à plusieurs composantes majeures, mais certaines catégories présentent des comportements spécifiques qui influencent différemment l’évolution des prix.</a:t>
            </a:r>
          </a:p>
          <a:p>
            <a:pPr marL="0" indent="0" algn="just">
              <a:buNone/>
            </a:pPr>
            <a:r>
              <a:rPr lang="fr-CA" sz="1100" dirty="0"/>
              <a:t>Par ailleurs, plusieurs variables sont très fortement corrélées entre elles. La forte corrélation entre les composantes de l’IPC indique la présence de multi colinéarité, ce qui est attendu étant donné que ces variables contribuent directement au calcul de l’IPC global. Une sélection de variables est donc nécessaire pour construire un modèle de régression interprétable.</a:t>
            </a:r>
          </a:p>
        </p:txBody>
      </p:sp>
      <p:pic>
        <p:nvPicPr>
          <p:cNvPr id="6" name="Espace réservé du contenu 5">
            <a:extLst>
              <a:ext uri="{FF2B5EF4-FFF2-40B4-BE49-F238E27FC236}">
                <a16:creationId xmlns:a16="http://schemas.microsoft.com/office/drawing/2014/main" id="{3C19F80F-14B7-B2E2-FF06-B0B73149DD6D}"/>
              </a:ext>
            </a:extLst>
          </p:cNvPr>
          <p:cNvPicPr>
            <a:picLocks noGrp="1" noChangeAspect="1"/>
          </p:cNvPicPr>
          <p:nvPr>
            <p:ph sz="half" idx="2"/>
          </p:nvPr>
        </p:nvPicPr>
        <p:blipFill>
          <a:blip r:embed="rId2"/>
          <a:stretch>
            <a:fillRect/>
          </a:stretch>
        </p:blipFill>
        <p:spPr>
          <a:xfrm>
            <a:off x="4910667" y="983584"/>
            <a:ext cx="5757333" cy="5150516"/>
          </a:xfrm>
          <a:prstGeom prst="rect">
            <a:avLst/>
          </a:prstGeom>
        </p:spPr>
      </p:pic>
    </p:spTree>
    <p:extLst>
      <p:ext uri="{BB962C8B-B14F-4D97-AF65-F5344CB8AC3E}">
        <p14:creationId xmlns:p14="http://schemas.microsoft.com/office/powerpoint/2010/main" val="1999095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71040DB-B63F-10D6-5759-DC42630782AC}"/>
              </a:ext>
            </a:extLst>
          </p:cNvPr>
          <p:cNvSpPr>
            <a:spLocks noGrp="1"/>
          </p:cNvSpPr>
          <p:nvPr>
            <p:ph type="title"/>
          </p:nvPr>
        </p:nvSpPr>
        <p:spPr>
          <a:xfrm>
            <a:off x="343959" y="156238"/>
            <a:ext cx="8596668" cy="843887"/>
          </a:xfrm>
        </p:spPr>
        <p:txBody>
          <a:bodyPr/>
          <a:lstStyle/>
          <a:p>
            <a:pPr algn="just"/>
            <a:r>
              <a:rPr lang="fr-CA" dirty="0"/>
              <a:t>Sélection des variables explicatives</a:t>
            </a:r>
          </a:p>
        </p:txBody>
      </p:sp>
      <p:sp>
        <p:nvSpPr>
          <p:cNvPr id="3" name="Espace réservé du contenu 2">
            <a:extLst>
              <a:ext uri="{FF2B5EF4-FFF2-40B4-BE49-F238E27FC236}">
                <a16:creationId xmlns:a16="http://schemas.microsoft.com/office/drawing/2014/main" id="{4FBF238F-E8DA-E583-81DC-4104D23C32C2}"/>
              </a:ext>
            </a:extLst>
          </p:cNvPr>
          <p:cNvSpPr>
            <a:spLocks noGrp="1"/>
          </p:cNvSpPr>
          <p:nvPr>
            <p:ph idx="1"/>
          </p:nvPr>
        </p:nvSpPr>
        <p:spPr>
          <a:xfrm>
            <a:off x="420158" y="1000125"/>
            <a:ext cx="9161991" cy="3880773"/>
          </a:xfrm>
        </p:spPr>
        <p:txBody>
          <a:bodyPr>
            <a:normAutofit/>
          </a:bodyPr>
          <a:lstStyle/>
          <a:p>
            <a:pPr marL="0" indent="0" algn="just">
              <a:buNone/>
            </a:pPr>
            <a:r>
              <a:rPr lang="fr-CA" dirty="0"/>
              <a:t>Le choix des variables explicatives repose sur une combinaison de critères statistiques et économiques.</a:t>
            </a:r>
          </a:p>
          <a:p>
            <a:pPr marL="0" indent="0" algn="just">
              <a:buNone/>
            </a:pPr>
            <a:r>
              <a:rPr lang="fr-CA" b="1" dirty="0"/>
              <a:t>Les variables logement et aliments </a:t>
            </a:r>
            <a:r>
              <a:rPr lang="fr-CA" dirty="0"/>
              <a:t>ont été retenues en raison de leur forte corrélation avec l’IPC global, comme observé dans l’analyse précédente.</a:t>
            </a:r>
          </a:p>
          <a:p>
            <a:pPr marL="0" indent="0" algn="just">
              <a:buNone/>
            </a:pPr>
            <a:r>
              <a:rPr lang="fr-CA" dirty="0"/>
              <a:t>Ces deux composantes représentent également des postes de dépense essentiels pour les ménages, ce qui justifie leur importance dans l’évolution de l’inflation.</a:t>
            </a:r>
          </a:p>
          <a:p>
            <a:pPr marL="0" indent="0" algn="just">
              <a:buNone/>
            </a:pPr>
            <a:r>
              <a:rPr lang="fr-CA" dirty="0"/>
              <a:t>Par ailleurs, une réduction du nombre de variables a été nécessaire afin de limiter les effets de multi colinéarité observés dans le modèle initial.</a:t>
            </a:r>
          </a:p>
          <a:p>
            <a:pPr marL="0" indent="0" algn="just">
              <a:buNone/>
            </a:pPr>
            <a:r>
              <a:rPr lang="fr-CA" dirty="0"/>
              <a:t>Ainsi, le modèle simplifié vise à améliorer l’interprétabilité tout en conservant les variables les plus pertinentes.</a:t>
            </a:r>
          </a:p>
        </p:txBody>
      </p:sp>
    </p:spTree>
    <p:extLst>
      <p:ext uri="{BB962C8B-B14F-4D97-AF65-F5344CB8AC3E}">
        <p14:creationId xmlns:p14="http://schemas.microsoft.com/office/powerpoint/2010/main" val="909310861"/>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53B161A-3915-1DFF-C574-75E8E502575F}"/>
              </a:ext>
            </a:extLst>
          </p:cNvPr>
          <p:cNvSpPr>
            <a:spLocks noGrp="1"/>
          </p:cNvSpPr>
          <p:nvPr>
            <p:ph type="title"/>
          </p:nvPr>
        </p:nvSpPr>
        <p:spPr>
          <a:xfrm>
            <a:off x="210608" y="156239"/>
            <a:ext cx="8914341" cy="1320800"/>
          </a:xfrm>
        </p:spPr>
        <p:txBody>
          <a:bodyPr/>
          <a:lstStyle/>
          <a:p>
            <a:pPr algn="just"/>
            <a:r>
              <a:rPr lang="fr-CA" dirty="0"/>
              <a:t>Interprétation du modèle de régression simplifié</a:t>
            </a:r>
          </a:p>
        </p:txBody>
      </p:sp>
      <p:sp>
        <p:nvSpPr>
          <p:cNvPr id="5" name="Espace réservé du contenu 4">
            <a:extLst>
              <a:ext uri="{FF2B5EF4-FFF2-40B4-BE49-F238E27FC236}">
                <a16:creationId xmlns:a16="http://schemas.microsoft.com/office/drawing/2014/main" id="{26630942-053B-12D3-32AD-609347FEEEBF}"/>
              </a:ext>
            </a:extLst>
          </p:cNvPr>
          <p:cNvSpPr>
            <a:spLocks noGrp="1"/>
          </p:cNvSpPr>
          <p:nvPr>
            <p:ph sz="half" idx="1"/>
          </p:nvPr>
        </p:nvSpPr>
        <p:spPr>
          <a:xfrm>
            <a:off x="335280" y="1477038"/>
            <a:ext cx="4570095" cy="4733261"/>
          </a:xfrm>
        </p:spPr>
        <p:txBody>
          <a:bodyPr>
            <a:normAutofit lnSpcReduction="10000"/>
          </a:bodyPr>
          <a:lstStyle/>
          <a:p>
            <a:pPr marL="0" indent="0" algn="just">
              <a:buNone/>
            </a:pPr>
            <a:r>
              <a:rPr lang="fr-CA" dirty="0"/>
              <a:t>Le modèle de régression simplifié présente une très bonne qualité d’ajustement, avec un R² de </a:t>
            </a:r>
            <a:r>
              <a:rPr lang="fr-CA" b="1" dirty="0"/>
              <a:t>0,992</a:t>
            </a:r>
            <a:r>
              <a:rPr lang="fr-CA" dirty="0"/>
              <a:t>, ce qui indique que les variables retenues expliquent plus de </a:t>
            </a:r>
            <a:r>
              <a:rPr lang="fr-CA" b="1" dirty="0"/>
              <a:t>99 % de la variation de l’IPC global</a:t>
            </a:r>
            <a:r>
              <a:rPr lang="fr-CA" dirty="0"/>
              <a:t>.</a:t>
            </a:r>
          </a:p>
          <a:p>
            <a:pPr algn="just"/>
            <a:r>
              <a:rPr lang="fr-CA" dirty="0"/>
              <a:t>Le modèle est globalement statistiquement significatif </a:t>
            </a:r>
            <a:r>
              <a:rPr lang="fr-CA" b="1" dirty="0"/>
              <a:t>(p-value &lt; 0,001</a:t>
            </a:r>
            <a:r>
              <a:rPr lang="fr-CA" dirty="0"/>
              <a:t>), ce qui confirme la pertinence des variables dans l’explication de l’IPC. </a:t>
            </a:r>
          </a:p>
          <a:p>
            <a:pPr algn="just"/>
            <a:r>
              <a:rPr lang="fr-CA" dirty="0"/>
              <a:t>Toutefois, les variables </a:t>
            </a:r>
            <a:r>
              <a:rPr lang="fr-CA" b="1" dirty="0"/>
              <a:t>logement</a:t>
            </a:r>
            <a:r>
              <a:rPr lang="fr-CA" dirty="0"/>
              <a:t> et </a:t>
            </a:r>
            <a:r>
              <a:rPr lang="fr-CA" b="1" dirty="0"/>
              <a:t>aliments</a:t>
            </a:r>
            <a:r>
              <a:rPr lang="fr-CA" dirty="0"/>
              <a:t> ne sont pas significatives individuellement </a:t>
            </a:r>
            <a:r>
              <a:rPr lang="fr-CA" b="1" dirty="0"/>
              <a:t>(p-value &gt; 0,05). </a:t>
            </a:r>
          </a:p>
          <a:p>
            <a:pPr marL="0" indent="0" algn="just">
              <a:buNone/>
            </a:pPr>
            <a:r>
              <a:rPr lang="fr-CA" dirty="0"/>
              <a:t>Cette situation s’explique par la forte corrélation entre ces variables, qui limite la capacité du modèle à isoler leur effet individuel.</a:t>
            </a:r>
          </a:p>
        </p:txBody>
      </p:sp>
      <p:pic>
        <p:nvPicPr>
          <p:cNvPr id="12" name="Espace réservé du contenu 11">
            <a:extLst>
              <a:ext uri="{FF2B5EF4-FFF2-40B4-BE49-F238E27FC236}">
                <a16:creationId xmlns:a16="http://schemas.microsoft.com/office/drawing/2014/main" id="{329A2251-A08B-16E5-7FB2-E07DE36AD71C}"/>
              </a:ext>
            </a:extLst>
          </p:cNvPr>
          <p:cNvPicPr>
            <a:picLocks noGrp="1" noChangeAspect="1"/>
          </p:cNvPicPr>
          <p:nvPr>
            <p:ph sz="half" idx="2"/>
          </p:nvPr>
        </p:nvPicPr>
        <p:blipFill>
          <a:blip r:embed="rId2"/>
          <a:stretch>
            <a:fillRect/>
          </a:stretch>
        </p:blipFill>
        <p:spPr>
          <a:xfrm>
            <a:off x="5076825" y="1477038"/>
            <a:ext cx="5684520" cy="4485612"/>
          </a:xfrm>
          <a:prstGeom prst="rect">
            <a:avLst/>
          </a:prstGeom>
        </p:spPr>
      </p:pic>
    </p:spTree>
    <p:extLst>
      <p:ext uri="{BB962C8B-B14F-4D97-AF65-F5344CB8AC3E}">
        <p14:creationId xmlns:p14="http://schemas.microsoft.com/office/powerpoint/2010/main" val="1733955631"/>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130620B-7C82-299C-61A1-857DFB4CF83F}"/>
              </a:ext>
            </a:extLst>
          </p:cNvPr>
          <p:cNvSpPr>
            <a:spLocks noGrp="1"/>
          </p:cNvSpPr>
          <p:nvPr>
            <p:ph type="title"/>
          </p:nvPr>
        </p:nvSpPr>
        <p:spPr>
          <a:xfrm>
            <a:off x="201084" y="85725"/>
            <a:ext cx="8596668" cy="819150"/>
          </a:xfrm>
        </p:spPr>
        <p:txBody>
          <a:bodyPr/>
          <a:lstStyle/>
          <a:p>
            <a:pPr algn="just"/>
            <a:r>
              <a:rPr lang="fr-CA" dirty="0"/>
              <a:t>Prédiction de l’IPC global pour 2026</a:t>
            </a:r>
          </a:p>
        </p:txBody>
      </p:sp>
      <p:sp>
        <p:nvSpPr>
          <p:cNvPr id="3" name="Espace réservé du contenu 2">
            <a:extLst>
              <a:ext uri="{FF2B5EF4-FFF2-40B4-BE49-F238E27FC236}">
                <a16:creationId xmlns:a16="http://schemas.microsoft.com/office/drawing/2014/main" id="{9A3D2C6C-DE31-30D0-C304-FCE21F3D3758}"/>
              </a:ext>
            </a:extLst>
          </p:cNvPr>
          <p:cNvSpPr>
            <a:spLocks noGrp="1"/>
          </p:cNvSpPr>
          <p:nvPr>
            <p:ph sz="half" idx="1"/>
          </p:nvPr>
        </p:nvSpPr>
        <p:spPr>
          <a:xfrm>
            <a:off x="315382" y="904875"/>
            <a:ext cx="4904317" cy="5181600"/>
          </a:xfrm>
        </p:spPr>
        <p:txBody>
          <a:bodyPr>
            <a:normAutofit fontScale="85000" lnSpcReduction="20000"/>
          </a:bodyPr>
          <a:lstStyle/>
          <a:p>
            <a:pPr marL="0" indent="0" algn="just">
              <a:buNone/>
            </a:pPr>
            <a:r>
              <a:rPr lang="fr-CA" dirty="0"/>
              <a:t>Un modèle de régression simple a été retenu en utilisant la variable </a:t>
            </a:r>
            <a:r>
              <a:rPr lang="fr-CA" b="1" dirty="0"/>
              <a:t>logement</a:t>
            </a:r>
            <a:r>
              <a:rPr lang="fr-CA" dirty="0"/>
              <a:t> comme unique variable explicative.</a:t>
            </a:r>
          </a:p>
          <a:p>
            <a:pPr algn="just"/>
            <a:r>
              <a:rPr lang="fr-CA" dirty="0"/>
              <a:t>Ce choix s’explique par sa </a:t>
            </a:r>
            <a:r>
              <a:rPr lang="fr-CA" b="1" dirty="0"/>
              <a:t>forte corrélation avec l’IPC global</a:t>
            </a:r>
            <a:r>
              <a:rPr lang="fr-CA" dirty="0"/>
              <a:t> et sa </a:t>
            </a:r>
            <a:r>
              <a:rPr lang="fr-CA" b="1" dirty="0"/>
              <a:t>pertinence économique</a:t>
            </a:r>
            <a:r>
              <a:rPr lang="fr-CA" dirty="0"/>
              <a:t>, le logement représentant une part importante des dépenses des ménages. </a:t>
            </a:r>
          </a:p>
          <a:p>
            <a:pPr algn="just"/>
            <a:r>
              <a:rPr lang="fr-CA" dirty="0"/>
              <a:t>L’utilisation d’une seule variable permet également de limiter les effets de multi colinéarité observés dans les modèles précédents.</a:t>
            </a:r>
          </a:p>
          <a:p>
            <a:pPr marL="0" indent="0" algn="just">
              <a:buNone/>
            </a:pPr>
            <a:r>
              <a:rPr lang="fr-CA" dirty="0"/>
              <a:t>Afin d’effectuer une prédiction pour 2026, une valeur de </a:t>
            </a:r>
            <a:r>
              <a:rPr lang="fr-CA" b="1" dirty="0"/>
              <a:t>192</a:t>
            </a:r>
            <a:r>
              <a:rPr lang="fr-CA" dirty="0"/>
              <a:t> a été attribuée à la variable logement, sur la base de son évolution récente :</a:t>
            </a:r>
          </a:p>
          <a:p>
            <a:pPr algn="just"/>
            <a:r>
              <a:rPr lang="fr-CA" b="1" dirty="0"/>
              <a:t>2023 : 172,5 </a:t>
            </a:r>
          </a:p>
          <a:p>
            <a:pPr algn="just"/>
            <a:r>
              <a:rPr lang="fr-CA" b="1" dirty="0"/>
              <a:t>2024 : 182,3 </a:t>
            </a:r>
          </a:p>
          <a:p>
            <a:pPr algn="just"/>
            <a:r>
              <a:rPr lang="fr-CA" b="1" dirty="0"/>
              <a:t>2025 : 187,8</a:t>
            </a:r>
          </a:p>
          <a:p>
            <a:pPr marL="0" indent="0" algn="just">
              <a:buNone/>
            </a:pPr>
            <a:r>
              <a:rPr lang="fr-CA" dirty="0"/>
              <a:t>Cette valeur correspond à une extrapolation réaliste de la tendance observée.</a:t>
            </a:r>
          </a:p>
          <a:p>
            <a:pPr marL="0" indent="0" algn="just">
              <a:buNone/>
            </a:pPr>
            <a:r>
              <a:rPr lang="fr-CA" b="1" dirty="0"/>
              <a:t>Le modèle prédit un IPC  global pour 2026 d’environ 168,98</a:t>
            </a:r>
            <a:r>
              <a:rPr lang="fr-CA" dirty="0"/>
              <a:t>. Ce qui signifie que selon ce modèle, l’inflation devrait continuer à augmenter en 2026 au fur et à mesure que le logement connaît une hausse, mais ceci à un rythme modéré en cohérence avec la tendance récente.</a:t>
            </a:r>
          </a:p>
          <a:p>
            <a:pPr marL="0" indent="0">
              <a:buNone/>
            </a:pPr>
            <a:endParaRPr lang="fr-CA" dirty="0"/>
          </a:p>
        </p:txBody>
      </p:sp>
      <p:pic>
        <p:nvPicPr>
          <p:cNvPr id="6" name="Espace réservé du contenu 5">
            <a:extLst>
              <a:ext uri="{FF2B5EF4-FFF2-40B4-BE49-F238E27FC236}">
                <a16:creationId xmlns:a16="http://schemas.microsoft.com/office/drawing/2014/main" id="{880BE4A0-B0FB-5B88-2419-D1C34B99018B}"/>
              </a:ext>
            </a:extLst>
          </p:cNvPr>
          <p:cNvPicPr>
            <a:picLocks noGrp="1" noChangeAspect="1"/>
          </p:cNvPicPr>
          <p:nvPr>
            <p:ph sz="half" idx="2"/>
          </p:nvPr>
        </p:nvPicPr>
        <p:blipFill>
          <a:blip r:embed="rId2"/>
          <a:stretch>
            <a:fillRect/>
          </a:stretch>
        </p:blipFill>
        <p:spPr>
          <a:xfrm>
            <a:off x="5486400" y="904875"/>
            <a:ext cx="5381625" cy="5114925"/>
          </a:xfrm>
          <a:prstGeom prst="rect">
            <a:avLst/>
          </a:prstGeom>
        </p:spPr>
      </p:pic>
    </p:spTree>
    <p:extLst>
      <p:ext uri="{BB962C8B-B14F-4D97-AF65-F5344CB8AC3E}">
        <p14:creationId xmlns:p14="http://schemas.microsoft.com/office/powerpoint/2010/main" val="123028359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53092588-B7E6-9607-69EF-BEC5CFC050EA}"/>
              </a:ext>
            </a:extLst>
          </p:cNvPr>
          <p:cNvSpPr>
            <a:spLocks noGrp="1"/>
          </p:cNvSpPr>
          <p:nvPr>
            <p:ph type="title"/>
          </p:nvPr>
        </p:nvSpPr>
        <p:spPr>
          <a:xfrm>
            <a:off x="201084" y="156238"/>
            <a:ext cx="8596668" cy="729587"/>
          </a:xfrm>
        </p:spPr>
        <p:txBody>
          <a:bodyPr/>
          <a:lstStyle/>
          <a:p>
            <a:pPr algn="just"/>
            <a:r>
              <a:rPr lang="fr-CA" dirty="0"/>
              <a:t>Recommandations issues de l’analyse</a:t>
            </a:r>
          </a:p>
        </p:txBody>
      </p:sp>
      <p:sp>
        <p:nvSpPr>
          <p:cNvPr id="6" name="Espace réservé du contenu 5">
            <a:extLst>
              <a:ext uri="{FF2B5EF4-FFF2-40B4-BE49-F238E27FC236}">
                <a16:creationId xmlns:a16="http://schemas.microsoft.com/office/drawing/2014/main" id="{5FCE8CA4-D3D2-0006-E2F7-8442C08E3C7E}"/>
              </a:ext>
            </a:extLst>
          </p:cNvPr>
          <p:cNvSpPr>
            <a:spLocks noGrp="1"/>
          </p:cNvSpPr>
          <p:nvPr>
            <p:ph idx="1"/>
          </p:nvPr>
        </p:nvSpPr>
        <p:spPr>
          <a:xfrm>
            <a:off x="201084" y="949789"/>
            <a:ext cx="9438215" cy="4593761"/>
          </a:xfrm>
        </p:spPr>
        <p:txBody>
          <a:bodyPr>
            <a:normAutofit/>
          </a:bodyPr>
          <a:lstStyle/>
          <a:p>
            <a:pPr marL="0" indent="0">
              <a:buNone/>
            </a:pPr>
            <a:r>
              <a:rPr lang="fr-CA" dirty="0"/>
              <a:t>Les résultats de l’analyse permettent de formuler plusieurs recommandations en lien avec l’évolution de l’inflation au Canada.</a:t>
            </a:r>
          </a:p>
          <a:p>
            <a:r>
              <a:rPr lang="fr-CA" b="1" dirty="0"/>
              <a:t>Surveiller les composantes clés</a:t>
            </a:r>
            <a:br>
              <a:rPr lang="fr-CA" dirty="0"/>
            </a:br>
            <a:r>
              <a:rPr lang="fr-CA" dirty="0"/>
              <a:t>Les variables telles que le logement et l’alimentation, fortement corrélées à l’IPC global, doivent faire l’objet d’une attention particulière dans le suivi de l’inflation. </a:t>
            </a:r>
          </a:p>
          <a:p>
            <a:r>
              <a:rPr lang="fr-CA" b="1" dirty="0"/>
              <a:t>Anticiper les effets des prix de l’énergie</a:t>
            </a:r>
            <a:br>
              <a:rPr lang="fr-CA" dirty="0"/>
            </a:br>
            <a:r>
              <a:rPr lang="fr-CA" dirty="0"/>
              <a:t>La volatilité de l’essence peut entraîner des fluctuations importantes de l’inflation. Une veille économique sur les marchés de l’énergie est recommandée. </a:t>
            </a:r>
          </a:p>
          <a:p>
            <a:r>
              <a:rPr lang="fr-CA" b="1" dirty="0"/>
              <a:t>Adapter les politiques économiques</a:t>
            </a:r>
            <a:br>
              <a:rPr lang="fr-CA" dirty="0"/>
            </a:br>
            <a:r>
              <a:rPr lang="fr-CA" dirty="0"/>
              <a:t>Les autorités économiques devraient prendre en compte l’impact des principales composantes de l’IPC dans leurs décisions afin de mieux contrôler l’inflation. </a:t>
            </a:r>
          </a:p>
          <a:p>
            <a:r>
              <a:rPr lang="fr-CA" b="1" dirty="0"/>
              <a:t>Améliorer les modèles d’analyse</a:t>
            </a:r>
            <a:br>
              <a:rPr lang="fr-CA" dirty="0"/>
            </a:br>
            <a:r>
              <a:rPr lang="fr-CA" dirty="0"/>
              <a:t>L’utilisation de données plus fines (mensuelles) et de méthodes avancées permettrait d’obtenir des prévisions plus précises.</a:t>
            </a:r>
          </a:p>
          <a:p>
            <a:pPr marL="0" indent="0">
              <a:buNone/>
            </a:pPr>
            <a:endParaRPr lang="fr-CA" dirty="0"/>
          </a:p>
        </p:txBody>
      </p:sp>
    </p:spTree>
    <p:extLst>
      <p:ext uri="{BB962C8B-B14F-4D97-AF65-F5344CB8AC3E}">
        <p14:creationId xmlns:p14="http://schemas.microsoft.com/office/powerpoint/2010/main" val="126801510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F8B6833-A91F-DEC2-FA17-A6127A12A4DC}"/>
              </a:ext>
            </a:extLst>
          </p:cNvPr>
          <p:cNvSpPr>
            <a:spLocks noGrp="1"/>
          </p:cNvSpPr>
          <p:nvPr>
            <p:ph type="title"/>
          </p:nvPr>
        </p:nvSpPr>
        <p:spPr>
          <a:xfrm>
            <a:off x="267759" y="156238"/>
            <a:ext cx="8596668" cy="660400"/>
          </a:xfrm>
        </p:spPr>
        <p:txBody>
          <a:bodyPr/>
          <a:lstStyle/>
          <a:p>
            <a:pPr algn="just"/>
            <a:r>
              <a:rPr lang="fr-CA" dirty="0"/>
              <a:t>Conclusion de l’analyse de l’IPC au Canada</a:t>
            </a:r>
          </a:p>
        </p:txBody>
      </p:sp>
      <p:sp>
        <p:nvSpPr>
          <p:cNvPr id="6" name="Espace réservé du contenu 5">
            <a:extLst>
              <a:ext uri="{FF2B5EF4-FFF2-40B4-BE49-F238E27FC236}">
                <a16:creationId xmlns:a16="http://schemas.microsoft.com/office/drawing/2014/main" id="{89203334-4F18-7DAD-E2A2-4A153229FBD9}"/>
              </a:ext>
            </a:extLst>
          </p:cNvPr>
          <p:cNvSpPr>
            <a:spLocks noGrp="1"/>
          </p:cNvSpPr>
          <p:nvPr>
            <p:ph idx="1"/>
          </p:nvPr>
        </p:nvSpPr>
        <p:spPr>
          <a:xfrm>
            <a:off x="391584" y="979488"/>
            <a:ext cx="9247716" cy="5364161"/>
          </a:xfrm>
        </p:spPr>
        <p:txBody>
          <a:bodyPr>
            <a:noAutofit/>
          </a:bodyPr>
          <a:lstStyle/>
          <a:p>
            <a:pPr marL="0" indent="0" algn="just">
              <a:buNone/>
            </a:pPr>
            <a:r>
              <a:rPr lang="fr-CA" dirty="0"/>
              <a:t>L’analyse de l’Indice des prix à la consommation (IPC) au Canada sur la période 2015–2025 met en évidence une </a:t>
            </a:r>
            <a:r>
              <a:rPr lang="fr-CA" b="1" dirty="0"/>
              <a:t>hausse continue du niveau général des prix</a:t>
            </a:r>
            <a:r>
              <a:rPr lang="fr-CA" dirty="0"/>
              <a:t>, avec une accélération marquée à partir de 2021, en lien avec le contexte postpandémie.</a:t>
            </a:r>
          </a:p>
          <a:p>
            <a:pPr marL="0" indent="0" algn="just">
              <a:buNone/>
            </a:pPr>
            <a:r>
              <a:rPr lang="fr-CA" dirty="0"/>
              <a:t>Les analyses descriptives et graphiques ont permis d’identifier des dynamiques différenciées entre les composantes, notamment :</a:t>
            </a:r>
          </a:p>
          <a:p>
            <a:pPr algn="just"/>
            <a:r>
              <a:rPr lang="fr-CA" dirty="0"/>
              <a:t>une contribution importante du </a:t>
            </a:r>
            <a:r>
              <a:rPr lang="fr-CA" b="1" dirty="0"/>
              <a:t>logement, de l’alimentation et des services</a:t>
            </a:r>
            <a:r>
              <a:rPr lang="fr-CA" dirty="0"/>
              <a:t> </a:t>
            </a:r>
          </a:p>
          <a:p>
            <a:pPr algn="just"/>
            <a:r>
              <a:rPr lang="fr-CA" dirty="0"/>
              <a:t>une </a:t>
            </a:r>
            <a:r>
              <a:rPr lang="fr-CA" b="1" dirty="0"/>
              <a:t>volatilité marquée de l’énergie</a:t>
            </a:r>
            <a:r>
              <a:rPr lang="fr-CA" dirty="0"/>
              <a:t>, en particulier de l’essence </a:t>
            </a:r>
          </a:p>
          <a:p>
            <a:pPr algn="just"/>
            <a:r>
              <a:rPr lang="fr-CA" dirty="0"/>
              <a:t>une </a:t>
            </a:r>
            <a:r>
              <a:rPr lang="fr-CA" b="1" dirty="0"/>
              <a:t>stabilité relative de certaines catégories</a:t>
            </a:r>
            <a:r>
              <a:rPr lang="fr-CA" dirty="0"/>
              <a:t>, comme l’habillement </a:t>
            </a:r>
          </a:p>
          <a:p>
            <a:pPr marL="0" indent="0" algn="just">
              <a:buNone/>
            </a:pPr>
            <a:r>
              <a:rPr lang="fr-CA" dirty="0"/>
              <a:t>L’analyse de corrélation et la modélisation ont révélé une forte interdépendance entre les variables, limitant l’interprétation individuelle des effets en raison de la multi colinéarité.</a:t>
            </a:r>
          </a:p>
          <a:p>
            <a:pPr marL="0" indent="0" algn="just">
              <a:buNone/>
            </a:pPr>
            <a:r>
              <a:rPr lang="fr-CA" dirty="0"/>
              <a:t>Afin de contourner cette limite, un modèle simplifié a été utilisé pour réaliser une projection de l’IPC.</a:t>
            </a:r>
          </a:p>
          <a:p>
            <a:pPr marL="0" indent="0" algn="just">
              <a:buNone/>
            </a:pPr>
            <a:r>
              <a:rPr lang="fr-CA" dirty="0"/>
              <a:t>L’inflation au Canada est un phénomène complexe et multidimensionnel, influencé par plusieurs composantes interdépendantes, ce qui nécessite des approches analytiques adaptées pour en comprendre les dynamiques.</a:t>
            </a:r>
          </a:p>
        </p:txBody>
      </p:sp>
    </p:spTree>
    <p:extLst>
      <p:ext uri="{BB962C8B-B14F-4D97-AF65-F5344CB8AC3E}">
        <p14:creationId xmlns:p14="http://schemas.microsoft.com/office/powerpoint/2010/main" val="1252652681"/>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theme/theme1.xml><?xml version="1.0" encoding="utf-8"?>
<a:theme xmlns:a="http://schemas.openxmlformats.org/drawingml/2006/main" name="Facette">
  <a:themeElements>
    <a:clrScheme name="Bleu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Facette">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320</TotalTime>
  <Words>1947</Words>
  <Application>Microsoft Office PowerPoint</Application>
  <PresentationFormat>Grand écran</PresentationFormat>
  <Paragraphs>132</Paragraphs>
  <Slides>18</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18</vt:i4>
      </vt:variant>
    </vt:vector>
  </HeadingPairs>
  <TitlesOfParts>
    <vt:vector size="22" baseType="lpstr">
      <vt:lpstr>Arial</vt:lpstr>
      <vt:lpstr>Calibri</vt:lpstr>
      <vt:lpstr>Wingdings 3</vt:lpstr>
      <vt:lpstr>Facette</vt:lpstr>
      <vt:lpstr>Décomposition et analyse prédictive de l’IPC (Indice des Prix à la Consommation) au Canada : une étude des déterminants de l’inflation</vt:lpstr>
      <vt:lpstr>Contexte et problématique</vt:lpstr>
      <vt:lpstr>Définition de l’IPC et contexte canadien</vt:lpstr>
      <vt:lpstr>Composantes de l’IPC</vt:lpstr>
      <vt:lpstr>Objectif du projet</vt:lpstr>
      <vt:lpstr>Hypothèse</vt:lpstr>
      <vt:lpstr>Données utilisées</vt:lpstr>
      <vt:lpstr>Méthodologie</vt:lpstr>
      <vt:lpstr>Analyse descriptive – Préparation des données</vt:lpstr>
      <vt:lpstr>Analyse descriptive : Interprétation</vt:lpstr>
      <vt:lpstr>Évolution de l’IPC global au Canada (2015 – 2025)</vt:lpstr>
      <vt:lpstr>Évolution des composantes de l’IPC au Canada  (2015 – 2025)</vt:lpstr>
      <vt:lpstr>Analyse de corrélation</vt:lpstr>
      <vt:lpstr>Sélection des variables explicatives</vt:lpstr>
      <vt:lpstr>Interprétation du modèle de régression simplifié</vt:lpstr>
      <vt:lpstr>Prédiction de l’IPC global pour 2026</vt:lpstr>
      <vt:lpstr>Recommandations issues de l’analyse</vt:lpstr>
      <vt:lpstr>Conclusion de l’analyse de l’IPC au Canada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Ngayap Tchouamdjou Orly Steve</dc:creator>
  <cp:lastModifiedBy>Ngayap Tchouamdjou Orly Steve</cp:lastModifiedBy>
  <cp:revision>31</cp:revision>
  <dcterms:created xsi:type="dcterms:W3CDTF">2026-03-24T15:21:50Z</dcterms:created>
  <dcterms:modified xsi:type="dcterms:W3CDTF">2026-03-24T20:44:32Z</dcterms:modified>
</cp:coreProperties>
</file>